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iKRYzgdhvOFmFtU7mCCYwZVvi1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1D485B2-7A5A-4CF1-A3F6-B747E6EB9C08}">
  <a:tblStyle styleId="{41D485B2-7A5A-4CF1-A3F6-B747E6EB9C0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/>
    <p:restoredTop sz="94632"/>
  </p:normalViewPr>
  <p:slideViewPr>
    <p:cSldViewPr snapToGrid="0">
      <p:cViewPr varScale="1">
        <p:scale>
          <a:sx n="148" d="100"/>
          <a:sy n="148" d="100"/>
        </p:scale>
        <p:origin x="6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cc92c0c2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cc92c0c282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g3cc92c0c282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c92c0c282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cc92c0c282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g3cc92c0c282_0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cc9de6f81f_2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g3cc9de6f81f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cc9de6f81f_2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cc9de6f81f_2_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g3cc9de6f81f_2_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cc9add61f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6" name="Google Shape;336;g3cc9add61f7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g3cc9add61f7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cc9add61f7_0_3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g3cc9add61f7_0_3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" name="Google Shape;16;g3cc9add61f7_0_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cc9add61f7_0_4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g3cc9add61f7_0_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cc9add61f7_0_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3cc9add61f7_0_4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g3cc9add61f7_0_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cc9add61f7_0_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3cc9add61f7_0_4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g3cc9add61f7_0_4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g3cc9add61f7_0_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cc9add61f7_0_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g3cc9add61f7_0_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cc9add61f7_0_5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g3cc9add61f7_0_5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g3cc9add61f7_0_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cc9add61f7_0_5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8" name="Google Shape;38;g3cc9add61f7_0_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cc9add61f7_0_6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g3cc9add61f7_0_6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g3cc9add61f7_0_6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g3cc9add61f7_0_6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g3cc9add61f7_0_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cc9add61f7_0_6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g3cc9add61f7_0_6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cc9add61f7_0_7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g3cc9add61f7_0_7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g3cc9add61f7_0_7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cc9add61f7_0_7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cc9add61f7_0_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g3cc9add61f7_0_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g3cc9add61f7_0_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g3cc92c0c282_0_0"/>
          <p:cNvGrpSpPr/>
          <p:nvPr/>
        </p:nvGrpSpPr>
        <p:grpSpPr>
          <a:xfrm>
            <a:off x="4560842" y="-100"/>
            <a:ext cx="4710783" cy="5260200"/>
            <a:chOff x="3784725" y="-100"/>
            <a:chExt cx="5487225" cy="5260200"/>
          </a:xfrm>
        </p:grpSpPr>
        <p:sp>
          <p:nvSpPr>
            <p:cNvPr id="61" name="Google Shape;61;g3cc92c0c282_0_0"/>
            <p:cNvSpPr/>
            <p:nvPr/>
          </p:nvSpPr>
          <p:spPr>
            <a:xfrm rot="10799752">
              <a:off x="5120850" y="50"/>
              <a:ext cx="4151100" cy="5259900"/>
            </a:xfrm>
            <a:prstGeom prst="rtTriangle">
              <a:avLst/>
            </a:prstGeom>
            <a:solidFill>
              <a:srgbClr val="00C2A8"/>
            </a:solidFill>
            <a:ln w="9525" cap="flat" cmpd="sng">
              <a:solidFill>
                <a:srgbClr val="00C2A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g3cc92c0c282_0_0"/>
            <p:cNvSpPr/>
            <p:nvPr/>
          </p:nvSpPr>
          <p:spPr>
            <a:xfrm rot="10799752">
              <a:off x="4487550" y="50"/>
              <a:ext cx="4151100" cy="5259900"/>
            </a:xfrm>
            <a:prstGeom prst="rtTriangle">
              <a:avLst/>
            </a:prstGeom>
            <a:solidFill>
              <a:srgbClr val="009E87"/>
            </a:solidFill>
            <a:ln w="9525" cap="flat" cmpd="sng">
              <a:solidFill>
                <a:srgbClr val="009E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g3cc92c0c282_0_0"/>
            <p:cNvSpPr/>
            <p:nvPr/>
          </p:nvSpPr>
          <p:spPr>
            <a:xfrm rot="10799752">
              <a:off x="3784725" y="50"/>
              <a:ext cx="4151100" cy="5259900"/>
            </a:xfrm>
            <a:prstGeom prst="rtTriangle">
              <a:avLst/>
            </a:prstGeom>
            <a:solidFill>
              <a:srgbClr val="2A4A6B"/>
            </a:solidFill>
            <a:ln w="9525" cap="flat" cmpd="sng">
              <a:solidFill>
                <a:srgbClr val="2A4A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" name="Google Shape;64;g3cc92c0c282_0_0"/>
          <p:cNvSpPr txBox="1"/>
          <p:nvPr/>
        </p:nvSpPr>
        <p:spPr>
          <a:xfrm>
            <a:off x="304550" y="973975"/>
            <a:ext cx="55455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F1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Redefining McGrath’s Value Proposition</a:t>
            </a:r>
            <a:endParaRPr sz="3600">
              <a:solidFill>
                <a:srgbClr val="0F1F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g3cc92c0c282_0_0"/>
          <p:cNvSpPr/>
          <p:nvPr/>
        </p:nvSpPr>
        <p:spPr>
          <a:xfrm>
            <a:off x="0" y="0"/>
            <a:ext cx="201300" cy="5143500"/>
          </a:xfrm>
          <a:prstGeom prst="rect">
            <a:avLst/>
          </a:prstGeom>
          <a:solidFill>
            <a:srgbClr val="00C2A8"/>
          </a:solidFill>
          <a:ln w="12700" cap="flat" cmpd="sng">
            <a:solidFill>
              <a:srgbClr val="00C2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g3cc92c0c282_0_0"/>
          <p:cNvSpPr/>
          <p:nvPr/>
        </p:nvSpPr>
        <p:spPr>
          <a:xfrm>
            <a:off x="0" y="4028100"/>
            <a:ext cx="9272100" cy="1350900"/>
          </a:xfrm>
          <a:prstGeom prst="rect">
            <a:avLst/>
          </a:prstGeom>
          <a:solidFill>
            <a:srgbClr val="1E3A5F"/>
          </a:solidFill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endParaRPr sz="4000" b="0" i="0" u="none" strike="noStrike" cap="none">
              <a:solidFill>
                <a:schemeClr val="lt1"/>
              </a:solidFill>
              <a:highlight>
                <a:srgbClr val="1E3A5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" name="Google Shape;67;g3cc92c0c282_0_0"/>
          <p:cNvGrpSpPr/>
          <p:nvPr/>
        </p:nvGrpSpPr>
        <p:grpSpPr>
          <a:xfrm>
            <a:off x="499975" y="4297241"/>
            <a:ext cx="8324550" cy="688677"/>
            <a:chOff x="499975" y="4309635"/>
            <a:chExt cx="8324550" cy="688677"/>
          </a:xfrm>
        </p:grpSpPr>
        <p:pic>
          <p:nvPicPr>
            <p:cNvPr id="68" name="Google Shape;68;g3cc92c0c282_0_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582275" y="4309637"/>
              <a:ext cx="2242250" cy="688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g3cc92c0c282_0_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99975" y="4309635"/>
              <a:ext cx="1978825" cy="688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" name="Google Shape;70;g3cc92c0c282_0_0"/>
          <p:cNvSpPr txBox="1"/>
          <p:nvPr/>
        </p:nvSpPr>
        <p:spPr>
          <a:xfrm>
            <a:off x="855175" y="3036525"/>
            <a:ext cx="7138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1" name="Google Shape;71;g3cc92c0c282_0_0"/>
          <p:cNvSpPr txBox="1"/>
          <p:nvPr/>
        </p:nvSpPr>
        <p:spPr>
          <a:xfrm>
            <a:off x="304550" y="2167825"/>
            <a:ext cx="7138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and the Commoditization of Knowledge</a:t>
            </a:r>
            <a:endParaRPr sz="1800" i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c92c0c282_0_9"/>
          <p:cNvSpPr txBox="1"/>
          <p:nvPr/>
        </p:nvSpPr>
        <p:spPr>
          <a:xfrm>
            <a:off x="208375" y="248000"/>
            <a:ext cx="7138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Introducing the team</a:t>
            </a:r>
            <a:endParaRPr/>
          </a:p>
        </p:txBody>
      </p:sp>
      <p:sp>
        <p:nvSpPr>
          <p:cNvPr id="78" name="Google Shape;78;g3cc92c0c282_0_9"/>
          <p:cNvSpPr/>
          <p:nvPr/>
        </p:nvSpPr>
        <p:spPr>
          <a:xfrm>
            <a:off x="0" y="0"/>
            <a:ext cx="201300" cy="5143500"/>
          </a:xfrm>
          <a:prstGeom prst="rect">
            <a:avLst/>
          </a:prstGeom>
          <a:solidFill>
            <a:srgbClr val="00C2A8"/>
          </a:solidFill>
          <a:ln w="12700" cap="flat" cmpd="sng">
            <a:solidFill>
              <a:srgbClr val="00C2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g3cc92c0c282_0_9"/>
          <p:cNvSpPr/>
          <p:nvPr/>
        </p:nvSpPr>
        <p:spPr>
          <a:xfrm>
            <a:off x="201300" y="13750"/>
            <a:ext cx="8942700" cy="1125600"/>
          </a:xfrm>
          <a:prstGeom prst="rect">
            <a:avLst/>
          </a:prstGeom>
          <a:solidFill>
            <a:srgbClr val="1E3A5F"/>
          </a:solidFill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lang="en-US" sz="3600" b="1">
                <a:solidFill>
                  <a:schemeClr val="lt1"/>
                </a:solidFill>
                <a:highlight>
                  <a:srgbClr val="1E3A5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Introducing the Team - C4</a:t>
            </a:r>
            <a:endParaRPr sz="3600" i="0" u="none" strike="noStrike" cap="none">
              <a:solidFill>
                <a:schemeClr val="lt1"/>
              </a:solidFill>
              <a:highlight>
                <a:srgbClr val="1E3A5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0" name="Google Shape;80;g3cc92c0c282_0_9" title="PHOTO-2026-02-25-00-34-5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8904" y="2043063"/>
            <a:ext cx="1290900" cy="1387800"/>
          </a:xfrm>
          <a:prstGeom prst="ellipse">
            <a:avLst/>
          </a:prstGeom>
          <a:noFill/>
          <a:ln w="28575" cap="flat" cmpd="sng">
            <a:solidFill>
              <a:srgbClr val="2A4A6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1" name="Google Shape;81;g3cc92c0c282_0_9"/>
          <p:cNvSpPr/>
          <p:nvPr/>
        </p:nvSpPr>
        <p:spPr>
          <a:xfrm>
            <a:off x="1257354" y="3705750"/>
            <a:ext cx="1374000" cy="333600"/>
          </a:xfrm>
          <a:prstGeom prst="roundRect">
            <a:avLst>
              <a:gd name="adj" fmla="val 16667"/>
            </a:avLst>
          </a:prstGeom>
          <a:solidFill>
            <a:srgbClr val="2A4A6B"/>
          </a:solidFill>
          <a:ln w="9525" cap="flat" cmpd="sng">
            <a:solidFill>
              <a:srgbClr val="2A4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Nistha Garg</a:t>
            </a:r>
            <a:endParaRPr sz="1200" b="1">
              <a:solidFill>
                <a:schemeClr val="lt1"/>
              </a:solidFill>
            </a:endParaRPr>
          </a:p>
        </p:txBody>
      </p:sp>
      <p:pic>
        <p:nvPicPr>
          <p:cNvPr id="82" name="Google Shape;82;g3cc92c0c282_0_9" title="Ankit Professional Photo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0254" y="2043063"/>
            <a:ext cx="1290900" cy="1387800"/>
          </a:xfrm>
          <a:prstGeom prst="ellipse">
            <a:avLst/>
          </a:prstGeom>
          <a:noFill/>
          <a:ln w="28575" cap="flat" cmpd="sng">
            <a:solidFill>
              <a:srgbClr val="2A4A6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3" name="Google Shape;83;g3cc92c0c282_0_9"/>
          <p:cNvSpPr/>
          <p:nvPr/>
        </p:nvSpPr>
        <p:spPr>
          <a:xfrm>
            <a:off x="3078704" y="3705750"/>
            <a:ext cx="1374000" cy="333600"/>
          </a:xfrm>
          <a:prstGeom prst="roundRect">
            <a:avLst>
              <a:gd name="adj" fmla="val 16667"/>
            </a:avLst>
          </a:prstGeom>
          <a:solidFill>
            <a:srgbClr val="2A4A6B"/>
          </a:solidFill>
          <a:ln w="9525" cap="flat" cmpd="sng">
            <a:solidFill>
              <a:srgbClr val="2A4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Ankit Mishra</a:t>
            </a:r>
            <a:endParaRPr sz="1200" b="1">
              <a:solidFill>
                <a:schemeClr val="lt1"/>
              </a:solidFill>
            </a:endParaRPr>
          </a:p>
        </p:txBody>
      </p:sp>
      <p:pic>
        <p:nvPicPr>
          <p:cNvPr id="84" name="Google Shape;84;g3cc92c0c282_0_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41604" y="2043063"/>
            <a:ext cx="1290900" cy="1387800"/>
          </a:xfrm>
          <a:prstGeom prst="ellipse">
            <a:avLst/>
          </a:prstGeom>
          <a:noFill/>
          <a:ln w="28575" cap="flat" cmpd="sng">
            <a:solidFill>
              <a:srgbClr val="2A4A6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5" name="Google Shape;85;g3cc92c0c282_0_9"/>
          <p:cNvSpPr/>
          <p:nvPr/>
        </p:nvSpPr>
        <p:spPr>
          <a:xfrm>
            <a:off x="4900054" y="3715938"/>
            <a:ext cx="1374000" cy="333600"/>
          </a:xfrm>
          <a:prstGeom prst="roundRect">
            <a:avLst>
              <a:gd name="adj" fmla="val 16667"/>
            </a:avLst>
          </a:prstGeom>
          <a:solidFill>
            <a:srgbClr val="2A4A6B"/>
          </a:solidFill>
          <a:ln w="9525" cap="flat" cmpd="sng">
            <a:solidFill>
              <a:srgbClr val="2A4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Yash Godbole</a:t>
            </a:r>
            <a:endParaRPr sz="1200" b="1">
              <a:solidFill>
                <a:schemeClr val="lt1"/>
              </a:solidFill>
            </a:endParaRPr>
          </a:p>
        </p:txBody>
      </p:sp>
      <p:pic>
        <p:nvPicPr>
          <p:cNvPr id="86" name="Google Shape;86;g3cc92c0c282_0_9" descr="A person smiling for a picture&#10;&#10;AI-generated content may be incorrect.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21404" y="2043063"/>
            <a:ext cx="1374000" cy="1387800"/>
          </a:xfrm>
          <a:prstGeom prst="ellipse">
            <a:avLst/>
          </a:prstGeom>
          <a:noFill/>
          <a:ln w="28575" cap="flat" cmpd="sng">
            <a:solidFill>
              <a:srgbClr val="2A4A6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7" name="Google Shape;87;g3cc92c0c282_0_9"/>
          <p:cNvSpPr/>
          <p:nvPr/>
        </p:nvSpPr>
        <p:spPr>
          <a:xfrm>
            <a:off x="6721404" y="3705738"/>
            <a:ext cx="1374000" cy="333600"/>
          </a:xfrm>
          <a:prstGeom prst="roundRect">
            <a:avLst>
              <a:gd name="adj" fmla="val 16667"/>
            </a:avLst>
          </a:prstGeom>
          <a:solidFill>
            <a:srgbClr val="2A4A6B"/>
          </a:solidFill>
          <a:ln w="9525" cap="flat" cmpd="sng">
            <a:solidFill>
              <a:srgbClr val="2A4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Dewaang Vig</a:t>
            </a:r>
            <a:endParaRPr sz="12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2A8"/>
          </a:solidFill>
          <a:ln w="12700" cap="flat" cmpd="sng">
            <a:solidFill>
              <a:srgbClr val="00C2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411480" y="32004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alibri"/>
              <a:buNone/>
            </a:pPr>
            <a:r>
              <a:rPr lang="en-US" sz="1200" b="1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EXECUTIVE  SUMMARY</a:t>
            </a:r>
            <a:endParaRPr sz="1200" b="1">
              <a:solidFill>
                <a:srgbClr val="00C2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alibri"/>
              <a:buNone/>
            </a:pPr>
            <a:endParaRPr sz="1200" b="1">
              <a:solidFill>
                <a:srgbClr val="00C2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rgbClr val="1E3A5F"/>
          </a:solidFill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lang="en-US" sz="3600" b="1">
                <a:solidFill>
                  <a:schemeClr val="lt1"/>
                </a:solidFill>
                <a:highlight>
                  <a:srgbClr val="1E3A5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3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Atlas Pivot</a:t>
            </a:r>
            <a:endParaRPr sz="3600" i="0" u="none" strike="noStrike" cap="none">
              <a:solidFill>
                <a:schemeClr val="lt1"/>
              </a:solidFill>
              <a:highlight>
                <a:srgbClr val="1E3A5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1203275" y="1881450"/>
            <a:ext cx="2622900" cy="1449300"/>
          </a:xfrm>
          <a:prstGeom prst="rect">
            <a:avLst/>
          </a:prstGeom>
          <a:solidFill>
            <a:srgbClr val="1A3055"/>
          </a:solidFill>
          <a:ln w="12700" cap="flat" cmpd="sng">
            <a:solidFill>
              <a:srgbClr val="1A3055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508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"/>
          <p:cNvSpPr/>
          <p:nvPr/>
        </p:nvSpPr>
        <p:spPr>
          <a:xfrm rot="10800000" flipH="1">
            <a:off x="1203275" y="1881475"/>
            <a:ext cx="2630100" cy="108000"/>
          </a:xfrm>
          <a:prstGeom prst="rect">
            <a:avLst/>
          </a:prstGeom>
          <a:solidFill>
            <a:srgbClr val="E84855"/>
          </a:solidFill>
          <a:ln w="12700" cap="flat" cmpd="sng">
            <a:solidFill>
              <a:srgbClr val="E848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"/>
          <p:cNvSpPr/>
          <p:nvPr/>
        </p:nvSpPr>
        <p:spPr>
          <a:xfrm>
            <a:off x="1246625" y="1998025"/>
            <a:ext cx="19344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4855"/>
              </a:buClr>
              <a:buSzPts val="1200"/>
              <a:buFont typeface="Calibri"/>
              <a:buNone/>
            </a:pPr>
            <a:r>
              <a:rPr lang="en-US" sz="1300" b="1">
                <a:solidFill>
                  <a:srgbClr val="E84855"/>
                </a:solidFill>
                <a:latin typeface="Calibri"/>
                <a:ea typeface="Calibri"/>
                <a:cs typeface="Calibri"/>
                <a:sym typeface="Calibri"/>
              </a:rPr>
              <a:t>Problem Identification</a:t>
            </a:r>
            <a:endParaRPr sz="13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1291925" y="2357450"/>
            <a:ext cx="2301900" cy="8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CE8"/>
              </a:buClr>
              <a:buSzPts val="1100"/>
              <a:buFont typeface="Calibri"/>
              <a:buNone/>
            </a:pPr>
            <a:r>
              <a:rPr lang="en-US" sz="1200" i="0" u="none" strike="noStrike" cap="none">
                <a:solidFill>
                  <a:srgbClr val="D1DCE8"/>
                </a:solidFill>
                <a:latin typeface="Calibri"/>
                <a:ea typeface="Calibri"/>
                <a:cs typeface="Calibri"/>
                <a:sym typeface="Calibri"/>
              </a:rPr>
              <a:t>AI is commoditizing the baseline generation of knowledge </a:t>
            </a:r>
            <a:endParaRPr sz="12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4796950" y="1930675"/>
            <a:ext cx="2743200" cy="1383300"/>
          </a:xfrm>
          <a:prstGeom prst="rect">
            <a:avLst/>
          </a:prstGeom>
          <a:solidFill>
            <a:srgbClr val="1A3055"/>
          </a:solidFill>
          <a:ln w="12700" cap="flat" cmpd="sng">
            <a:solidFill>
              <a:srgbClr val="1A3055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508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"/>
          <p:cNvSpPr/>
          <p:nvPr/>
        </p:nvSpPr>
        <p:spPr>
          <a:xfrm>
            <a:off x="4796647" y="1933983"/>
            <a:ext cx="2743200" cy="63900"/>
          </a:xfrm>
          <a:prstGeom prst="rect">
            <a:avLst/>
          </a:prstGeom>
          <a:solidFill>
            <a:srgbClr val="00C2A8"/>
          </a:solidFill>
          <a:ln w="12700" cap="flat" cmpd="sng">
            <a:solidFill>
              <a:srgbClr val="00C2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"/>
          <p:cNvSpPr/>
          <p:nvPr/>
        </p:nvSpPr>
        <p:spPr>
          <a:xfrm>
            <a:off x="4817499" y="2053499"/>
            <a:ext cx="2115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200"/>
              <a:buFont typeface="Calibri"/>
              <a:buNone/>
            </a:pPr>
            <a:r>
              <a:rPr lang="en-US" sz="1300" b="1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Strategy Recommendation</a:t>
            </a:r>
            <a:endParaRPr sz="13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4854250" y="2220500"/>
            <a:ext cx="23727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CE8"/>
              </a:buClr>
              <a:buSzPts val="1100"/>
              <a:buFont typeface="Calibri"/>
              <a:buNone/>
            </a:pPr>
            <a:endParaRPr sz="1100">
              <a:solidFill>
                <a:srgbClr val="D1DC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CE8"/>
              </a:buClr>
              <a:buSzPts val="1100"/>
              <a:buFont typeface="Calibri"/>
              <a:buNone/>
            </a:pPr>
            <a:r>
              <a:rPr lang="en-US" sz="1200" i="0" u="none" strike="noStrike" cap="none">
                <a:solidFill>
                  <a:srgbClr val="D1DCE8"/>
                </a:solidFill>
                <a:latin typeface="Calibri"/>
                <a:ea typeface="Calibri"/>
                <a:cs typeface="Calibri"/>
                <a:sym typeface="Calibri"/>
              </a:rPr>
              <a:t>"Platform-Fortress" Hybrid Strategy with €280M investment. </a:t>
            </a:r>
            <a:endParaRPr sz="12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/>
          <p:nvPr/>
        </p:nvSpPr>
        <p:spPr>
          <a:xfrm rot="10800000" flipH="1">
            <a:off x="4816400" y="3583325"/>
            <a:ext cx="2709900" cy="1376100"/>
          </a:xfrm>
          <a:prstGeom prst="rect">
            <a:avLst/>
          </a:prstGeom>
          <a:solidFill>
            <a:srgbClr val="1A3055"/>
          </a:solidFill>
          <a:ln w="12700" cap="flat" cmpd="sng">
            <a:solidFill>
              <a:srgbClr val="1A3055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508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"/>
          <p:cNvSpPr/>
          <p:nvPr/>
        </p:nvSpPr>
        <p:spPr>
          <a:xfrm>
            <a:off x="4796650" y="3579725"/>
            <a:ext cx="2743200" cy="108000"/>
          </a:xfrm>
          <a:prstGeom prst="rect">
            <a:avLst/>
          </a:prstGeom>
          <a:solidFill>
            <a:srgbClr val="F4A623"/>
          </a:solidFill>
          <a:ln w="12700" cap="flat" cmpd="sng">
            <a:solidFill>
              <a:srgbClr val="F4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"/>
          <p:cNvSpPr/>
          <p:nvPr/>
        </p:nvSpPr>
        <p:spPr>
          <a:xfrm>
            <a:off x="4854250" y="3880000"/>
            <a:ext cx="23019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DCE8"/>
              </a:buClr>
              <a:buSzPts val="1100"/>
              <a:buFont typeface="Calibri"/>
              <a:buNone/>
            </a:pPr>
            <a:endParaRPr sz="1100">
              <a:solidFill>
                <a:srgbClr val="D1DC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DCE8"/>
              </a:buClr>
              <a:buSzPts val="1100"/>
              <a:buFont typeface="Calibri"/>
              <a:buNone/>
            </a:pPr>
            <a:r>
              <a:rPr lang="en-US" sz="1200">
                <a:solidFill>
                  <a:srgbClr val="D1DCE8"/>
                </a:solidFill>
                <a:latin typeface="Calibri"/>
                <a:ea typeface="Calibri"/>
                <a:cs typeface="Calibri"/>
                <a:sym typeface="Calibri"/>
              </a:rPr>
              <a:t>New </a:t>
            </a:r>
            <a:r>
              <a:rPr lang="en-US" sz="1200" i="0" u="none" strike="noStrike" cap="none">
                <a:solidFill>
                  <a:srgbClr val="D1DCE8"/>
                </a:solidFill>
                <a:latin typeface="Calibri"/>
                <a:ea typeface="Calibri"/>
                <a:cs typeface="Calibri"/>
                <a:sym typeface="Calibri"/>
              </a:rPr>
              <a:t>"Atlas" program </a:t>
            </a:r>
            <a:r>
              <a:rPr lang="en-US" sz="1200">
                <a:solidFill>
                  <a:srgbClr val="D1DCE8"/>
                </a:solidFill>
                <a:latin typeface="Calibri"/>
                <a:ea typeface="Calibri"/>
                <a:cs typeface="Calibri"/>
                <a:sym typeface="Calibri"/>
              </a:rPr>
              <a:t>includes</a:t>
            </a:r>
            <a:r>
              <a:rPr lang="en-US" sz="1200" i="0" u="none" strike="noStrike" cap="none">
                <a:solidFill>
                  <a:srgbClr val="D1DCE8"/>
                </a:solidFill>
                <a:latin typeface="Calibri"/>
                <a:ea typeface="Calibri"/>
                <a:cs typeface="Calibri"/>
                <a:sym typeface="Calibri"/>
              </a:rPr>
              <a:t> B2B enterprise pre-sales </a:t>
            </a:r>
            <a:endParaRPr sz="12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1246625" y="3579725"/>
            <a:ext cx="2562300" cy="1383300"/>
          </a:xfrm>
          <a:prstGeom prst="rect">
            <a:avLst/>
          </a:prstGeom>
          <a:solidFill>
            <a:srgbClr val="1A3055"/>
          </a:solidFill>
          <a:ln w="12700" cap="flat" cmpd="sng">
            <a:solidFill>
              <a:srgbClr val="1A3055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50800" dir="8100000" algn="bl" rotWithShape="0">
              <a:srgbClr val="000000">
                <a:alpha val="250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"/>
          <p:cNvSpPr/>
          <p:nvPr/>
        </p:nvSpPr>
        <p:spPr>
          <a:xfrm>
            <a:off x="1240638" y="3583737"/>
            <a:ext cx="2562300" cy="98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"/>
          <p:cNvSpPr/>
          <p:nvPr/>
        </p:nvSpPr>
        <p:spPr>
          <a:xfrm>
            <a:off x="0" y="0"/>
            <a:ext cx="201300" cy="5143500"/>
          </a:xfrm>
          <a:prstGeom prst="rect">
            <a:avLst/>
          </a:prstGeom>
          <a:solidFill>
            <a:srgbClr val="00C2A8"/>
          </a:solidFill>
          <a:ln w="12700" cap="flat" cmpd="sng">
            <a:solidFill>
              <a:srgbClr val="00C2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"/>
          <p:cNvSpPr txBox="1"/>
          <p:nvPr/>
        </p:nvSpPr>
        <p:spPr>
          <a:xfrm>
            <a:off x="1500200" y="3759225"/>
            <a:ext cx="1387500" cy="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4842287" y="3678743"/>
            <a:ext cx="19344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4A623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sz="1300" b="1">
              <a:solidFill>
                <a:srgbClr val="F4A62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1256518" y="3622030"/>
            <a:ext cx="23727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4855"/>
              </a:buClr>
              <a:buSzPts val="1200"/>
              <a:buFont typeface="Calibri"/>
              <a:buNone/>
            </a:pPr>
            <a:r>
              <a:rPr lang="en-US" sz="13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New Consulting Framework</a:t>
            </a:r>
            <a:endParaRPr sz="130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642950" y="2120575"/>
            <a:ext cx="372300" cy="411600"/>
          </a:xfrm>
          <a:prstGeom prst="ellipse">
            <a:avLst/>
          </a:prstGeom>
          <a:solidFill>
            <a:srgbClr val="2A4A6B"/>
          </a:solidFill>
          <a:ln w="9525" cap="flat" cmpd="sng">
            <a:solidFill>
              <a:srgbClr val="2A4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lt1"/>
                </a:solidFill>
              </a:rPr>
              <a:t>1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664588" y="3579725"/>
            <a:ext cx="372300" cy="411600"/>
          </a:xfrm>
          <a:prstGeom prst="ellipse">
            <a:avLst/>
          </a:prstGeom>
          <a:solidFill>
            <a:srgbClr val="2A4A6B"/>
          </a:solidFill>
          <a:ln w="9525" cap="flat" cmpd="sng">
            <a:solidFill>
              <a:srgbClr val="2A4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lt1"/>
                </a:solidFill>
              </a:rPr>
              <a:t>3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4312625" y="1998025"/>
            <a:ext cx="372300" cy="411600"/>
          </a:xfrm>
          <a:prstGeom prst="ellipse">
            <a:avLst/>
          </a:prstGeom>
          <a:solidFill>
            <a:srgbClr val="2A4A6B"/>
          </a:solidFill>
          <a:ln w="9525" cap="flat" cmpd="sng">
            <a:solidFill>
              <a:srgbClr val="2A4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lt1"/>
                </a:solidFill>
              </a:rPr>
              <a:t>2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4312625" y="3622025"/>
            <a:ext cx="372300" cy="411600"/>
          </a:xfrm>
          <a:prstGeom prst="ellipse">
            <a:avLst/>
          </a:prstGeom>
          <a:solidFill>
            <a:srgbClr val="2A4A6B"/>
          </a:solidFill>
          <a:ln w="9525" cap="flat" cmpd="sng">
            <a:solidFill>
              <a:srgbClr val="2A4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lt1"/>
                </a:solidFill>
              </a:rPr>
              <a:t>4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1332575" y="3935125"/>
            <a:ext cx="22206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DCE8"/>
              </a:buClr>
              <a:buSzPts val="1100"/>
              <a:buFont typeface="Calibri"/>
              <a:buNone/>
            </a:pPr>
            <a:r>
              <a:rPr lang="en-US" sz="1200">
                <a:solidFill>
                  <a:srgbClr val="D1DCE8"/>
                </a:solidFill>
                <a:latin typeface="Calibri"/>
                <a:ea typeface="Calibri"/>
                <a:cs typeface="Calibri"/>
                <a:sym typeface="Calibri"/>
              </a:rPr>
              <a:t>From a labor pyramid to AI-powered strategic pods backed by centralized digital infrastructure.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DCE8"/>
              </a:buClr>
              <a:buSzPts val="1100"/>
              <a:buFont typeface="Calibri"/>
              <a:buNone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284550" y="10322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    EXECUTIVE SUMMARY</a:t>
            </a:r>
            <a:endParaRPr sz="1200" b="1">
              <a:solidFill>
                <a:srgbClr val="00C2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00C2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"/>
          <p:cNvSpPr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alibri"/>
              <a:buNone/>
            </a:pPr>
            <a:r>
              <a:rPr lang="en-US" sz="1200" b="1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SITUATION &amp; COMPLICATION</a:t>
            </a:r>
            <a:endParaRPr sz="1200" b="1">
              <a:solidFill>
                <a:srgbClr val="00C2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Commoditization of Consulting</a:t>
            </a:r>
            <a:endParaRPr sz="36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365760" y="1188720"/>
            <a:ext cx="2743200" cy="1097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C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2"/>
          <p:cNvSpPr/>
          <p:nvPr/>
        </p:nvSpPr>
        <p:spPr>
          <a:xfrm>
            <a:off x="365760" y="1188720"/>
            <a:ext cx="73152" cy="1097280"/>
          </a:xfrm>
          <a:prstGeom prst="rect">
            <a:avLst/>
          </a:prstGeom>
          <a:solidFill>
            <a:srgbClr val="E84855"/>
          </a:solidFill>
          <a:ln w="12700" cap="flat" cmpd="sng">
            <a:solidFill>
              <a:srgbClr val="E848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"/>
          <p:cNvSpPr/>
          <p:nvPr/>
        </p:nvSpPr>
        <p:spPr>
          <a:xfrm>
            <a:off x="530352" y="1243584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4855"/>
              </a:buClr>
              <a:buSzPts val="3600"/>
              <a:buFont typeface="Georgia"/>
              <a:buNone/>
            </a:pPr>
            <a:r>
              <a:rPr lang="en-US" sz="3600" b="1" i="0" u="none" strike="noStrike" cap="none">
                <a:solidFill>
                  <a:srgbClr val="E84855"/>
                </a:solidFill>
                <a:latin typeface="Georgia"/>
                <a:ea typeface="Georgia"/>
                <a:cs typeface="Georgia"/>
                <a:sym typeface="Georgia"/>
              </a:rPr>
              <a:t>–9%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530352" y="184708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lang="en-US" sz="12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Revenue Drop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3291840" y="1188720"/>
            <a:ext cx="2743200" cy="1097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C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2"/>
          <p:cNvSpPr/>
          <p:nvPr/>
        </p:nvSpPr>
        <p:spPr>
          <a:xfrm>
            <a:off x="3291840" y="1188720"/>
            <a:ext cx="73152" cy="1097280"/>
          </a:xfrm>
          <a:prstGeom prst="rect">
            <a:avLst/>
          </a:prstGeom>
          <a:solidFill>
            <a:srgbClr val="F4A623"/>
          </a:solidFill>
          <a:ln w="12700" cap="flat" cmpd="sng">
            <a:solidFill>
              <a:srgbClr val="F4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"/>
          <p:cNvSpPr/>
          <p:nvPr/>
        </p:nvSpPr>
        <p:spPr>
          <a:xfrm>
            <a:off x="3456432" y="1243584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A623"/>
              </a:buClr>
              <a:buSzPts val="3600"/>
              <a:buFont typeface="Georgia"/>
              <a:buNone/>
            </a:pPr>
            <a:r>
              <a:rPr lang="en-US" sz="3600" b="1" i="0" u="none" strike="noStrike" cap="none">
                <a:solidFill>
                  <a:srgbClr val="F4A623"/>
                </a:solidFill>
                <a:latin typeface="Georgia"/>
                <a:ea typeface="Georgia"/>
                <a:cs typeface="Georgia"/>
                <a:sym typeface="Georgia"/>
              </a:rPr>
              <a:t>€170M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3456432" y="184708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lang="en-US" sz="12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Atlas Investment (Sunk)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6217920" y="1188720"/>
            <a:ext cx="2743200" cy="1097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C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"/>
          <p:cNvSpPr/>
          <p:nvPr/>
        </p:nvSpPr>
        <p:spPr>
          <a:xfrm>
            <a:off x="6217920" y="1188720"/>
            <a:ext cx="73152" cy="1097280"/>
          </a:xfrm>
          <a:prstGeom prst="rect">
            <a:avLst/>
          </a:prstGeom>
          <a:solidFill>
            <a:srgbClr val="E84855"/>
          </a:solidFill>
          <a:ln w="12700" cap="flat" cmpd="sng">
            <a:solidFill>
              <a:srgbClr val="E848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"/>
          <p:cNvSpPr/>
          <p:nvPr/>
        </p:nvSpPr>
        <p:spPr>
          <a:xfrm>
            <a:off x="6382512" y="1243584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4855"/>
              </a:buClr>
              <a:buSzPts val="3600"/>
              <a:buFont typeface="Georgia"/>
              <a:buNone/>
            </a:pPr>
            <a:r>
              <a:rPr lang="en-US" sz="3600" b="1" i="0" u="none" strike="noStrike" cap="none">
                <a:solidFill>
                  <a:srgbClr val="E84855"/>
                </a:solidFill>
                <a:latin typeface="Georgia"/>
                <a:ea typeface="Georgia"/>
                <a:cs typeface="Georgia"/>
                <a:sym typeface="Georgia"/>
              </a:rPr>
              <a:t>0%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"/>
          <p:cNvSpPr/>
          <p:nvPr/>
        </p:nvSpPr>
        <p:spPr>
          <a:xfrm>
            <a:off x="6382512" y="184708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lang="en-US" sz="12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Pricing Power Remaining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"/>
          <p:cNvSpPr/>
          <p:nvPr/>
        </p:nvSpPr>
        <p:spPr>
          <a:xfrm>
            <a:off x="365760" y="2487168"/>
            <a:ext cx="2743200" cy="2331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C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2"/>
          <p:cNvSpPr/>
          <p:nvPr/>
        </p:nvSpPr>
        <p:spPr>
          <a:xfrm>
            <a:off x="365760" y="2487168"/>
            <a:ext cx="2743200" cy="64008"/>
          </a:xfrm>
          <a:prstGeom prst="rect">
            <a:avLst/>
          </a:prstGeom>
          <a:solidFill>
            <a:srgbClr val="00C2A8"/>
          </a:solidFill>
          <a:ln w="12700" cap="flat" cmpd="sng">
            <a:solidFill>
              <a:srgbClr val="00C2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"/>
          <p:cNvSpPr/>
          <p:nvPr/>
        </p:nvSpPr>
        <p:spPr>
          <a:xfrm>
            <a:off x="502920" y="2578608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The Disruption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"/>
          <p:cNvSpPr/>
          <p:nvPr/>
        </p:nvSpPr>
        <p:spPr>
          <a:xfrm>
            <a:off x="502920" y="2944368"/>
            <a:ext cx="24688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lang="en-US" sz="12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Generative AI is shifting value from human-hours to governed data. </a:t>
            </a:r>
            <a:endParaRPr sz="1200" b="0" i="0" u="none" strike="noStrike" cap="none">
              <a:solidFill>
                <a:srgbClr val="1A2B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lang="en-US" sz="12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Clients' internal strategy units</a:t>
            </a:r>
            <a:r>
              <a:rPr lang="en-US" sz="12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now demand AI-adjusted pricing at procurement.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"/>
          <p:cNvSpPr/>
          <p:nvPr/>
        </p:nvSpPr>
        <p:spPr>
          <a:xfrm>
            <a:off x="3291840" y="2487168"/>
            <a:ext cx="2743200" cy="2331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C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"/>
          <p:cNvSpPr/>
          <p:nvPr/>
        </p:nvSpPr>
        <p:spPr>
          <a:xfrm>
            <a:off x="3291840" y="2487168"/>
            <a:ext cx="2743200" cy="64008"/>
          </a:xfrm>
          <a:prstGeom prst="rect">
            <a:avLst/>
          </a:prstGeom>
          <a:solidFill>
            <a:srgbClr val="00C2A8"/>
          </a:solidFill>
          <a:ln w="12700" cap="flat" cmpd="sng">
            <a:solidFill>
              <a:srgbClr val="00C2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"/>
          <p:cNvSpPr/>
          <p:nvPr/>
        </p:nvSpPr>
        <p:spPr>
          <a:xfrm>
            <a:off x="3429000" y="2578608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The Atlas Paradox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"/>
          <p:cNvSpPr/>
          <p:nvPr/>
        </p:nvSpPr>
        <p:spPr>
          <a:xfrm>
            <a:off x="3429000" y="2944368"/>
            <a:ext cx="24688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lang="en-US" sz="12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The €170M Atlas investment created efficiency  but broke the pricing narrative. </a:t>
            </a:r>
            <a:endParaRPr sz="1200" b="0" i="0" u="none" strike="noStrike" cap="none">
              <a:solidFill>
                <a:srgbClr val="1A2B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lang="en-US" sz="12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Faster analysis simply led clients to demand smaller fees for identical diagnostic output.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"/>
          <p:cNvSpPr/>
          <p:nvPr/>
        </p:nvSpPr>
        <p:spPr>
          <a:xfrm>
            <a:off x="6217920" y="2487168"/>
            <a:ext cx="2743200" cy="2331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C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"/>
          <p:cNvSpPr/>
          <p:nvPr/>
        </p:nvSpPr>
        <p:spPr>
          <a:xfrm>
            <a:off x="6217920" y="2487168"/>
            <a:ext cx="2743200" cy="64008"/>
          </a:xfrm>
          <a:prstGeom prst="rect">
            <a:avLst/>
          </a:prstGeom>
          <a:solidFill>
            <a:srgbClr val="00C2A8"/>
          </a:solidFill>
          <a:ln w="12700" cap="flat" cmpd="sng">
            <a:solidFill>
              <a:srgbClr val="00C2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"/>
          <p:cNvSpPr/>
          <p:nvPr/>
        </p:nvSpPr>
        <p:spPr>
          <a:xfrm>
            <a:off x="6355080" y="2578608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The Threat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/>
          <p:nvPr/>
        </p:nvSpPr>
        <p:spPr>
          <a:xfrm>
            <a:off x="6355080" y="2944368"/>
            <a:ext cx="24688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lang="en-US" sz="12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If McGrath fails to productize its governed data and methodologies, competitors or public models will </a:t>
            </a:r>
            <a:r>
              <a:rPr lang="en-US" sz="12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be </a:t>
            </a:r>
            <a:r>
              <a:rPr lang="en-US" sz="12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destroying the firm's remaining margin base permanently.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0" y="0"/>
            <a:ext cx="201300" cy="5143500"/>
          </a:xfrm>
          <a:prstGeom prst="rect">
            <a:avLst/>
          </a:prstGeom>
          <a:solidFill>
            <a:srgbClr val="00C2A8"/>
          </a:solidFill>
          <a:ln w="12700" cap="flat" cmpd="sng">
            <a:solidFill>
              <a:srgbClr val="00C2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3"/>
          <p:cNvSpPr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alibri"/>
              <a:buNone/>
            </a:pPr>
            <a:r>
              <a:rPr lang="en-US" sz="1200" b="1" i="0" u="none" strike="noStrike" cap="non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EVALUATING THE PATHS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Inadequacy of the Status Quo</a:t>
            </a:r>
            <a:endParaRPr sz="36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2" name="Google Shape;162;p3"/>
          <p:cNvGraphicFramePr/>
          <p:nvPr/>
        </p:nvGraphicFramePr>
        <p:xfrm>
          <a:off x="440124" y="1233614"/>
          <a:ext cx="8412475" cy="3383300"/>
        </p:xfrm>
        <a:graphic>
          <a:graphicData uri="http://schemas.openxmlformats.org/drawingml/2006/table">
            <a:tbl>
              <a:tblPr>
                <a:noFill/>
                <a:tableStyleId>{41D485B2-7A5A-4CF1-A3F6-B747E6EB9C08}</a:tableStyleId>
              </a:tblPr>
              <a:tblGrid>
                <a:gridCol w="146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Path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Growth Potential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Risk Level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Verdict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Efficiency Path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(Keep Internal)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Atlas stays internal. Productivity gains absorbed by clients.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48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E848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4%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A62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4A6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48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E848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Slow death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b="1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Platform</a:t>
                      </a:r>
                      <a:r>
                        <a:rPr lang="en-US" sz="1200" b="1" u="none" strike="noStrike" cap="non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Path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(Aggressive SaaS)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Full Atlas commercialization. €280M build-out. Subscription revenue model.</a:t>
                      </a:r>
                      <a:endParaRPr sz="1200" b="1">
                        <a:solidFill>
                          <a:srgbClr val="1A2B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09E8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9%+</a:t>
                      </a:r>
                      <a:endParaRPr sz="1200">
                        <a:solidFill>
                          <a:srgbClr val="1A2B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E848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200">
                        <a:solidFill>
                          <a:srgbClr val="1A2B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4A6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 reward,</a:t>
                      </a:r>
                      <a:endParaRPr sz="1200" b="1">
                        <a:solidFill>
                          <a:srgbClr val="009E8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A62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4A6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 risk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Fortress Path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(Bespoke Advisory)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Retreat to complex, bespoke advisory. Protect IP, exit commoditized work.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48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E848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Declining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A62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4A6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48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E848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Shrinking market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★ Hybrid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E8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Platform-Fortress combination. Atlas funds the build. Partners elevated to strategic counsel.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C2A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Growing (investment de-risked)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C2A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Managed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C2A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 Recommended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1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C2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3" name="Google Shape;163;p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0" y="0"/>
            <a:ext cx="201300" cy="5143500"/>
          </a:xfrm>
          <a:prstGeom prst="rect">
            <a:avLst/>
          </a:prstGeom>
          <a:solidFill>
            <a:srgbClr val="00C2A8"/>
          </a:solidFill>
          <a:ln w="12700" cap="flat" cmpd="sng">
            <a:solidFill>
              <a:srgbClr val="00C2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"/>
          <p:cNvSpPr/>
          <p:nvPr/>
        </p:nvSpPr>
        <p:spPr>
          <a:xfrm>
            <a:off x="1246775" y="1751131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alibri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CORE RECOMMENDATION</a:t>
            </a: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201300" y="0"/>
            <a:ext cx="8942700" cy="1522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Platform-Fortress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Strategy</a:t>
            </a:r>
            <a:endParaRPr sz="360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365760" y="1783080"/>
            <a:ext cx="4160520" cy="3063240"/>
          </a:xfrm>
          <a:prstGeom prst="rect">
            <a:avLst/>
          </a:prstGeom>
          <a:solidFill>
            <a:srgbClr val="182E4A"/>
          </a:solidFill>
          <a:ln w="12700" cap="flat" cmpd="sng">
            <a:solidFill>
              <a:srgbClr val="182E4A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4"/>
          <p:cNvSpPr/>
          <p:nvPr/>
        </p:nvSpPr>
        <p:spPr>
          <a:xfrm>
            <a:off x="365760" y="1783080"/>
            <a:ext cx="4160520" cy="73152"/>
          </a:xfrm>
          <a:prstGeom prst="rect">
            <a:avLst/>
          </a:prstGeom>
          <a:solidFill>
            <a:srgbClr val="00C2A8"/>
          </a:solidFill>
          <a:ln w="12700" cap="flat" cmpd="sng">
            <a:solidFill>
              <a:srgbClr val="00C2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548640" y="190195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THE PLATFORM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548640" y="2176272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Commercialized Atlas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548640" y="2651760"/>
            <a:ext cx="374904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6075" algn="l" rtl="0">
              <a:spcBef>
                <a:spcPts val="0"/>
              </a:spcBef>
              <a:spcAft>
                <a:spcPts val="0"/>
              </a:spcAft>
              <a:buClr>
                <a:srgbClr val="D1DCE8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D1DCE8"/>
                </a:solidFill>
                <a:latin typeface="Calibri"/>
                <a:ea typeface="Calibri"/>
                <a:cs typeface="Calibri"/>
                <a:sym typeface="Calibri"/>
              </a:rPr>
              <a:t>Proceed with Claire Dubois' €280M investment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6075" algn="l" rtl="0">
              <a:spcBef>
                <a:spcPts val="500"/>
              </a:spcBef>
              <a:spcAft>
                <a:spcPts val="0"/>
              </a:spcAft>
              <a:buClr>
                <a:srgbClr val="D1DCE8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D1DCE8"/>
                </a:solidFill>
                <a:latin typeface="Calibri"/>
                <a:ea typeface="Calibri"/>
                <a:cs typeface="Calibri"/>
                <a:sym typeface="Calibri"/>
              </a:rPr>
              <a:t>Shift from selling diagnostic reports → subscription-based benchmarking copilots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6075" algn="l" rtl="0">
              <a:spcBef>
                <a:spcPts val="500"/>
              </a:spcBef>
              <a:spcAft>
                <a:spcPts val="0"/>
              </a:spcAft>
              <a:buClr>
                <a:srgbClr val="D1DCE8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D1DCE8"/>
                </a:solidFill>
                <a:latin typeface="Calibri"/>
                <a:ea typeface="Calibri"/>
                <a:cs typeface="Calibri"/>
                <a:sym typeface="Calibri"/>
              </a:rPr>
              <a:t>Deeply embedded in client workflows (compliance, finance, operations)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6075" algn="l" rtl="0">
              <a:spcBef>
                <a:spcPts val="500"/>
              </a:spcBef>
              <a:spcAft>
                <a:spcPts val="0"/>
              </a:spcAft>
              <a:buClr>
                <a:srgbClr val="D1DCE8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D1DCE8"/>
                </a:solidFill>
                <a:latin typeface="Calibri"/>
                <a:ea typeface="Calibri"/>
                <a:cs typeface="Calibri"/>
                <a:sym typeface="Calibri"/>
              </a:rPr>
              <a:t>Atlas</a:t>
            </a:r>
            <a:r>
              <a:rPr lang="en-US" sz="1200" dirty="0">
                <a:solidFill>
                  <a:srgbClr val="D1DCE8"/>
                </a:solidFill>
                <a:latin typeface="Calibri"/>
                <a:ea typeface="Calibri"/>
                <a:cs typeface="Calibri"/>
                <a:sym typeface="Calibri"/>
              </a:rPr>
              <a:t>’s </a:t>
            </a:r>
            <a:r>
              <a:rPr lang="en-US" sz="1200" b="0" i="0" u="none" strike="noStrike" cap="none" dirty="0">
                <a:solidFill>
                  <a:srgbClr val="D1DCE8"/>
                </a:solidFill>
                <a:latin typeface="Calibri"/>
                <a:ea typeface="Calibri"/>
                <a:cs typeface="Calibri"/>
                <a:sym typeface="Calibri"/>
              </a:rPr>
              <a:t>Design Partners fund the build and generate training data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4846320" y="1783080"/>
            <a:ext cx="4160520" cy="3063240"/>
          </a:xfrm>
          <a:prstGeom prst="rect">
            <a:avLst/>
          </a:prstGeom>
          <a:solidFill>
            <a:srgbClr val="182E4A"/>
          </a:solidFill>
          <a:ln w="12700" cap="flat" cmpd="sng">
            <a:solidFill>
              <a:srgbClr val="182E4A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4"/>
          <p:cNvSpPr/>
          <p:nvPr/>
        </p:nvSpPr>
        <p:spPr>
          <a:xfrm>
            <a:off x="4846320" y="1783080"/>
            <a:ext cx="4160520" cy="73152"/>
          </a:xfrm>
          <a:prstGeom prst="rect">
            <a:avLst/>
          </a:prstGeom>
          <a:solidFill>
            <a:srgbClr val="F4A623"/>
          </a:solidFill>
          <a:ln w="12700" cap="flat" cmpd="sng">
            <a:solidFill>
              <a:srgbClr val="F4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5029200" y="190195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A623"/>
              </a:buClr>
              <a:buSzPts val="9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F4A623"/>
                </a:solidFill>
                <a:latin typeface="Calibri"/>
                <a:ea typeface="Calibri"/>
                <a:cs typeface="Calibri"/>
                <a:sym typeface="Calibri"/>
              </a:rPr>
              <a:t>THE FORTRESS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5029200" y="2176272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Elevated Advisory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5029200" y="2651760"/>
            <a:ext cx="374904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6075" algn="l" rtl="0">
              <a:spcBef>
                <a:spcPts val="0"/>
              </a:spcBef>
              <a:spcAft>
                <a:spcPts val="0"/>
              </a:spcAft>
              <a:buClr>
                <a:srgbClr val="D1DCE8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D1DCE8"/>
                </a:solidFill>
                <a:latin typeface="Calibri"/>
                <a:ea typeface="Calibri"/>
                <a:cs typeface="Calibri"/>
                <a:sym typeface="Calibri"/>
              </a:rPr>
              <a:t>Partners exit day-to-day Associate management entirely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6075" algn="l" rtl="0">
              <a:spcBef>
                <a:spcPts val="500"/>
              </a:spcBef>
              <a:spcAft>
                <a:spcPts val="0"/>
              </a:spcAft>
              <a:buClr>
                <a:srgbClr val="D1DCE8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D1DCE8"/>
                </a:solidFill>
                <a:latin typeface="Calibri"/>
                <a:ea typeface="Calibri"/>
                <a:cs typeface="Calibri"/>
                <a:sym typeface="Calibri"/>
              </a:rPr>
              <a:t>Focus purely on complex judgment calls and political navigation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6075" algn="l" rtl="0">
              <a:spcBef>
                <a:spcPts val="500"/>
              </a:spcBef>
              <a:spcAft>
                <a:spcPts val="0"/>
              </a:spcAft>
              <a:buClr>
                <a:srgbClr val="D1DCE8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D1DCE8"/>
                </a:solidFill>
                <a:latin typeface="Calibri"/>
                <a:ea typeface="Calibri"/>
                <a:cs typeface="Calibri"/>
                <a:sym typeface="Calibri"/>
              </a:rPr>
              <a:t>Edge-case regulatory strategy that AI cannot execute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6075" algn="l" rtl="0">
              <a:spcBef>
                <a:spcPts val="500"/>
              </a:spcBef>
              <a:spcAft>
                <a:spcPts val="0"/>
              </a:spcAft>
              <a:buClr>
                <a:srgbClr val="D1DCE8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D1DCE8"/>
                </a:solidFill>
                <a:latin typeface="Calibri"/>
                <a:ea typeface="Calibri"/>
                <a:cs typeface="Calibri"/>
                <a:sym typeface="Calibri"/>
              </a:rPr>
              <a:t>Priced at premium board-level advisory rates </a:t>
            </a:r>
            <a:r>
              <a:rPr lang="en-US" sz="1200" dirty="0">
                <a:solidFill>
                  <a:srgbClr val="D1DCE8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 sz="1200" b="0" i="0" u="none" strike="noStrike" cap="none" dirty="0">
                <a:solidFill>
                  <a:srgbClr val="D1DCE8"/>
                </a:solidFill>
                <a:latin typeface="Calibri"/>
                <a:ea typeface="Calibri"/>
                <a:cs typeface="Calibri"/>
                <a:sym typeface="Calibri"/>
              </a:rPr>
              <a:t>not billable hours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0" y="0"/>
            <a:ext cx="201300" cy="5143500"/>
          </a:xfrm>
          <a:prstGeom prst="rect">
            <a:avLst/>
          </a:prstGeom>
          <a:solidFill>
            <a:srgbClr val="00C2A8"/>
          </a:solidFill>
          <a:ln w="12700" cap="flat" cmpd="sng">
            <a:solidFill>
              <a:srgbClr val="00C2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4"/>
          <p:cNvSpPr txBox="1"/>
          <p:nvPr/>
        </p:nvSpPr>
        <p:spPr>
          <a:xfrm>
            <a:off x="365750" y="101525"/>
            <a:ext cx="28014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1" dirty="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THE CORE RECOMMENDATION</a:t>
            </a:r>
            <a:endParaRPr sz="1200" dirty="0">
              <a:solidFill>
                <a:srgbClr val="00C2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alibri"/>
              <a:buNone/>
            </a:pPr>
            <a:r>
              <a:rPr lang="en-US" sz="1200" b="1" i="0" u="none" strike="noStrike" cap="non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REVENUE ARCHITECTURE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 Billing Model Transformation</a:t>
            </a:r>
            <a:endParaRPr sz="36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1150"/>
              <a:buFont typeface="Calibri"/>
              <a:buNone/>
            </a:pP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365760" y="1417320"/>
            <a:ext cx="5120640" cy="107899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CE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365760" y="1417320"/>
            <a:ext cx="64008" cy="1078992"/>
          </a:xfrm>
          <a:prstGeom prst="rect">
            <a:avLst/>
          </a:prstGeom>
          <a:solidFill>
            <a:srgbClr val="00C2A8"/>
          </a:solidFill>
          <a:ln w="12700" cap="flat" cmpd="sng">
            <a:solidFill>
              <a:srgbClr val="00C2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502920" y="1490472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100"/>
              <a:buFont typeface="Calibri"/>
              <a:buNone/>
            </a:pPr>
            <a:r>
              <a:rPr lang="en-US" sz="1200" b="1" i="0" u="none" strike="noStrike" cap="non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914400" y="1490472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Subscription Revenue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914400" y="1819656"/>
            <a:ext cx="438912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52425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Sector benchmarking platforms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52425" algn="l" rtl="0">
              <a:spcBef>
                <a:spcPts val="20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Regulatory copilots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52425" algn="l" rtl="0">
              <a:spcBef>
                <a:spcPts val="20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Automated diagnostics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365760" y="2606040"/>
            <a:ext cx="5120640" cy="107899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CE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365760" y="2606040"/>
            <a:ext cx="64008" cy="1078992"/>
          </a:xfrm>
          <a:prstGeom prst="rect">
            <a:avLst/>
          </a:prstGeom>
          <a:solidFill>
            <a:srgbClr val="F4A623"/>
          </a:solidFill>
          <a:ln w="12700" cap="flat" cmpd="sng">
            <a:solidFill>
              <a:srgbClr val="F4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502920" y="2679192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A623"/>
              </a:buClr>
              <a:buSzPts val="1100"/>
              <a:buFont typeface="Calibri"/>
              <a:buNone/>
            </a:pPr>
            <a:r>
              <a:rPr lang="en-US" sz="1200" b="1" i="0" u="none" strike="noStrike" cap="none">
                <a:solidFill>
                  <a:srgbClr val="F4A623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914400" y="2679192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Outcome-Based Fees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914400" y="3008376"/>
            <a:ext cx="438912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52425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KPI-linked transformation pricing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52425" algn="l" rtl="0">
              <a:spcBef>
                <a:spcPts val="20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Shared upside models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365760" y="3794760"/>
            <a:ext cx="5120640" cy="107899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CE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365760" y="3794760"/>
            <a:ext cx="64008" cy="1078992"/>
          </a:xfrm>
          <a:prstGeom prst="rect">
            <a:avLst/>
          </a:prstGeom>
          <a:solidFill>
            <a:srgbClr val="E84855"/>
          </a:solidFill>
          <a:ln w="12700" cap="flat" cmpd="sng">
            <a:solidFill>
              <a:srgbClr val="E848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502920" y="3867912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4855"/>
              </a:buClr>
              <a:buSzPts val="1100"/>
              <a:buFont typeface="Calibri"/>
              <a:buNone/>
            </a:pPr>
            <a:r>
              <a:rPr lang="en-US" sz="1200" b="1" i="0" u="none" strike="noStrike" cap="none">
                <a:solidFill>
                  <a:srgbClr val="E84855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914400" y="3867912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Strategic Advisory Premium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914400" y="4197096"/>
            <a:ext cx="438912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52425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Board-level judgment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52425" algn="l" rtl="0">
              <a:spcBef>
                <a:spcPts val="20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Regulatory crisis advisory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52425" algn="l" rtl="0">
              <a:spcBef>
                <a:spcPts val="20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Complex restructurings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5669275" y="1417325"/>
            <a:ext cx="3160800" cy="3456300"/>
          </a:xfrm>
          <a:prstGeom prst="rect">
            <a:avLst/>
          </a:prstGeom>
          <a:solidFill>
            <a:srgbClr val="0F1F3D"/>
          </a:solidFill>
          <a:ln w="12700" cap="flat" cmpd="sng">
            <a:solidFill>
              <a:srgbClr val="0F1F3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5"/>
          <p:cNvSpPr/>
          <p:nvPr/>
        </p:nvSpPr>
        <p:spPr>
          <a:xfrm>
            <a:off x="5806440" y="153619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TARGET REVENUE MIX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5806440" y="178308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IN 5 YEARS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5806440" y="2404872"/>
            <a:ext cx="2926080" cy="164592"/>
          </a:xfrm>
          <a:prstGeom prst="rect">
            <a:avLst/>
          </a:prstGeom>
          <a:solidFill>
            <a:srgbClr val="1A3055"/>
          </a:solidFill>
          <a:ln w="12700" cap="flat" cmpd="sng">
            <a:solidFill>
              <a:srgbClr val="1A30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5806440" y="2404872"/>
            <a:ext cx="1463040" cy="164592"/>
          </a:xfrm>
          <a:prstGeom prst="rect">
            <a:avLst/>
          </a:prstGeom>
          <a:solidFill>
            <a:srgbClr val="00C2A8"/>
          </a:solidFill>
          <a:ln w="12700" cap="flat" cmpd="sng">
            <a:solidFill>
              <a:srgbClr val="00C2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5"/>
          <p:cNvSpPr/>
          <p:nvPr/>
        </p:nvSpPr>
        <p:spPr>
          <a:xfrm>
            <a:off x="5806440" y="214884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00C2A8"/>
                </a:solidFill>
                <a:latin typeface="Georgia"/>
                <a:ea typeface="Georgia"/>
                <a:cs typeface="Georgia"/>
                <a:sym typeface="Georgia"/>
              </a:rPr>
              <a:t>50%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6720840" y="2185416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CE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D1DCE8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5806440" y="3081528"/>
            <a:ext cx="2926080" cy="164592"/>
          </a:xfrm>
          <a:prstGeom prst="rect">
            <a:avLst/>
          </a:prstGeom>
          <a:solidFill>
            <a:srgbClr val="1A3055"/>
          </a:solidFill>
          <a:ln w="12700" cap="flat" cmpd="sng">
            <a:solidFill>
              <a:srgbClr val="1A30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5"/>
          <p:cNvSpPr/>
          <p:nvPr/>
        </p:nvSpPr>
        <p:spPr>
          <a:xfrm>
            <a:off x="5806440" y="3081528"/>
            <a:ext cx="877824" cy="164592"/>
          </a:xfrm>
          <a:prstGeom prst="rect">
            <a:avLst/>
          </a:prstGeom>
          <a:solidFill>
            <a:srgbClr val="F4A623"/>
          </a:solidFill>
          <a:ln w="12700" cap="flat" cmpd="sng">
            <a:solidFill>
              <a:srgbClr val="F4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5"/>
          <p:cNvSpPr/>
          <p:nvPr/>
        </p:nvSpPr>
        <p:spPr>
          <a:xfrm>
            <a:off x="5806440" y="2825496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A623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F4A623"/>
                </a:solidFill>
                <a:latin typeface="Georgia"/>
                <a:ea typeface="Georgia"/>
                <a:cs typeface="Georgia"/>
                <a:sym typeface="Georgia"/>
              </a:rPr>
              <a:t>30%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6720840" y="286207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CE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D1DCE8"/>
                </a:solidFill>
                <a:latin typeface="Calibri"/>
                <a:ea typeface="Calibri"/>
                <a:cs typeface="Calibri"/>
                <a:sym typeface="Calibri"/>
              </a:rPr>
              <a:t>Subscription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5806440" y="3758184"/>
            <a:ext cx="2926080" cy="164592"/>
          </a:xfrm>
          <a:prstGeom prst="rect">
            <a:avLst/>
          </a:prstGeom>
          <a:solidFill>
            <a:srgbClr val="1A3055"/>
          </a:solidFill>
          <a:ln w="12700" cap="flat" cmpd="sng">
            <a:solidFill>
              <a:srgbClr val="1A30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5"/>
          <p:cNvSpPr/>
          <p:nvPr/>
        </p:nvSpPr>
        <p:spPr>
          <a:xfrm>
            <a:off x="5806440" y="3758184"/>
            <a:ext cx="438912" cy="164592"/>
          </a:xfrm>
          <a:prstGeom prst="rect">
            <a:avLst/>
          </a:prstGeom>
          <a:solidFill>
            <a:srgbClr val="E84855"/>
          </a:solidFill>
          <a:ln w="12700" cap="flat" cmpd="sng">
            <a:solidFill>
              <a:srgbClr val="E848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5"/>
          <p:cNvSpPr/>
          <p:nvPr/>
        </p:nvSpPr>
        <p:spPr>
          <a:xfrm>
            <a:off x="5806440" y="350215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4855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E84855"/>
                </a:solidFill>
                <a:latin typeface="Georgia"/>
                <a:ea typeface="Georgia"/>
                <a:cs typeface="Georgia"/>
                <a:sym typeface="Georgia"/>
              </a:rPr>
              <a:t>15%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6720840" y="353872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CE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D1DCE8"/>
                </a:solidFill>
                <a:latin typeface="Calibri"/>
                <a:ea typeface="Calibri"/>
                <a:cs typeface="Calibri"/>
                <a:sym typeface="Calibri"/>
              </a:rPr>
              <a:t>Outcome-Based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5806440" y="4434840"/>
            <a:ext cx="2926080" cy="164592"/>
          </a:xfrm>
          <a:prstGeom prst="rect">
            <a:avLst/>
          </a:prstGeom>
          <a:solidFill>
            <a:srgbClr val="1A3055"/>
          </a:solidFill>
          <a:ln w="12700" cap="flat" cmpd="sng">
            <a:solidFill>
              <a:srgbClr val="1A30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5"/>
          <p:cNvSpPr/>
          <p:nvPr/>
        </p:nvSpPr>
        <p:spPr>
          <a:xfrm>
            <a:off x="5806440" y="4434840"/>
            <a:ext cx="146304" cy="164592"/>
          </a:xfrm>
          <a:prstGeom prst="rect">
            <a:avLst/>
          </a:prstGeom>
          <a:solidFill>
            <a:srgbClr val="8BA3B8"/>
          </a:solidFill>
          <a:ln w="12700" cap="flat" cmpd="sng">
            <a:solidFill>
              <a:srgbClr val="8B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5"/>
          <p:cNvSpPr/>
          <p:nvPr/>
        </p:nvSpPr>
        <p:spPr>
          <a:xfrm>
            <a:off x="5806440" y="417880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8BA3B8"/>
                </a:solidFill>
                <a:latin typeface="Georgia"/>
                <a:ea typeface="Georgia"/>
                <a:cs typeface="Georgia"/>
                <a:sym typeface="Georgia"/>
              </a:rPr>
              <a:t>5%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6720840" y="4215384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CE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D1DCE8"/>
                </a:solidFill>
                <a:latin typeface="Calibri"/>
                <a:ea typeface="Calibri"/>
                <a:cs typeface="Calibri"/>
                <a:sym typeface="Calibri"/>
              </a:rPr>
              <a:t>Other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4684375" y="1074475"/>
            <a:ext cx="5078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 txBox="1"/>
          <p:nvPr/>
        </p:nvSpPr>
        <p:spPr>
          <a:xfrm>
            <a:off x="5788150" y="4639851"/>
            <a:ext cx="2944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*These numbers are for illustration purposes only.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0" y="0"/>
            <a:ext cx="201300" cy="5143500"/>
          </a:xfrm>
          <a:prstGeom prst="rect">
            <a:avLst/>
          </a:prstGeom>
          <a:solidFill>
            <a:srgbClr val="00C2A8"/>
          </a:solidFill>
          <a:ln w="12700" cap="flat" cmpd="sng">
            <a:solidFill>
              <a:srgbClr val="00C2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5"/>
          <p:cNvSpPr txBox="1"/>
          <p:nvPr/>
        </p:nvSpPr>
        <p:spPr>
          <a:xfrm>
            <a:off x="8614875" y="4869325"/>
            <a:ext cx="351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8BA3B8"/>
                </a:solidFill>
              </a:rPr>
              <a:t>05</a:t>
            </a:r>
            <a:endParaRPr sz="900">
              <a:solidFill>
                <a:srgbClr val="8BA3B8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cc9de6f81f_2_3"/>
          <p:cNvSpPr/>
          <p:nvPr/>
        </p:nvSpPr>
        <p:spPr>
          <a:xfrm>
            <a:off x="457200" y="201168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cc9de6f81f_2_3"/>
          <p:cNvSpPr/>
          <p:nvPr/>
        </p:nvSpPr>
        <p:spPr>
          <a:xfrm>
            <a:off x="201300" y="0"/>
            <a:ext cx="8942700" cy="1075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Consulting Team Redesign: From Pyramid to Diamond</a:t>
            </a:r>
            <a:endParaRPr sz="28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7" name="Google Shape;237;g3cc9de6f81f_2_3"/>
          <p:cNvPicPr preferRelativeResize="0"/>
          <p:nvPr/>
        </p:nvPicPr>
        <p:blipFill rotWithShape="1">
          <a:blip r:embed="rId3">
            <a:alphaModFix/>
          </a:blip>
          <a:srcRect l="4701" t="10354" r="3489" b="4641"/>
          <a:stretch/>
        </p:blipFill>
        <p:spPr>
          <a:xfrm>
            <a:off x="629250" y="1213025"/>
            <a:ext cx="7885500" cy="3873450"/>
          </a:xfrm>
          <a:prstGeom prst="rect">
            <a:avLst/>
          </a:prstGeom>
          <a:solidFill>
            <a:srgbClr val="E84855"/>
          </a:solidFill>
          <a:ln>
            <a:noFill/>
          </a:ln>
        </p:spPr>
      </p:pic>
      <p:sp>
        <p:nvSpPr>
          <p:cNvPr id="238" name="Google Shape;238;g3cc9de6f81f_2_3"/>
          <p:cNvSpPr/>
          <p:nvPr/>
        </p:nvSpPr>
        <p:spPr>
          <a:xfrm>
            <a:off x="0" y="0"/>
            <a:ext cx="201300" cy="5143500"/>
          </a:xfrm>
          <a:prstGeom prst="rect">
            <a:avLst/>
          </a:prstGeom>
          <a:solidFill>
            <a:srgbClr val="00C2A8"/>
          </a:solidFill>
          <a:ln w="12700" cap="flat" cmpd="sng">
            <a:solidFill>
              <a:srgbClr val="00C2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g3cc9de6f81f_2_3"/>
          <p:cNvSpPr txBox="1"/>
          <p:nvPr/>
        </p:nvSpPr>
        <p:spPr>
          <a:xfrm>
            <a:off x="300825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Restructuring the Team</a:t>
            </a:r>
            <a:endParaRPr sz="1200" b="1">
              <a:solidFill>
                <a:srgbClr val="00C2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cc9de6f81f_2_3"/>
          <p:cNvSpPr txBox="1"/>
          <p:nvPr/>
        </p:nvSpPr>
        <p:spPr>
          <a:xfrm>
            <a:off x="8686800" y="4830575"/>
            <a:ext cx="3780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8BA3B8"/>
                </a:solidFill>
              </a:rPr>
              <a:t>06</a:t>
            </a:r>
            <a:endParaRPr sz="900">
              <a:solidFill>
                <a:srgbClr val="8BA3B8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alibri"/>
              <a:buNone/>
            </a:pPr>
            <a:r>
              <a:rPr lang="en-US" sz="1200" b="1" i="0" u="none" strike="noStrike" cap="non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OPERATING MODEL &amp; GOVERNANCE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Re-aligning Incentives for a Digital Era</a:t>
            </a:r>
            <a:endParaRPr sz="36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365760" y="1143000"/>
            <a:ext cx="2743200" cy="3749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CE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548640" y="1261872"/>
            <a:ext cx="594360" cy="594360"/>
          </a:xfrm>
          <a:prstGeom prst="ellipse">
            <a:avLst/>
          </a:prstGeom>
          <a:solidFill>
            <a:srgbClr val="00C2A8"/>
          </a:solidFill>
          <a:ln w="12700" cap="flat" cmpd="sng">
            <a:solidFill>
              <a:srgbClr val="00C2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548640" y="1261872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530352" y="1965960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Georgia"/>
              <a:buNone/>
            </a:pPr>
            <a:r>
              <a:rPr lang="en-US" sz="1300" b="1" i="0" u="none" strike="noStrike" cap="non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Centralized IP &amp; Product Management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530352" y="2697480"/>
            <a:ext cx="242316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lang="en-US" sz="12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The Knowledge Office becomes a central Product Management division. Local practices only access Atlas's advance client-facing features by surrendering proprietary methodologies to the central engine.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3273552" y="1143000"/>
            <a:ext cx="2743200" cy="3749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CE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3456432" y="1261872"/>
            <a:ext cx="594360" cy="594360"/>
          </a:xfrm>
          <a:prstGeom prst="ellipse">
            <a:avLst/>
          </a:prstGeom>
          <a:solidFill>
            <a:srgbClr val="F4A623"/>
          </a:solidFill>
          <a:ln w="12700" cap="flat" cmpd="sng">
            <a:solidFill>
              <a:srgbClr val="F4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3456432" y="1261872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3438144" y="1965960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Georgia"/>
              <a:buNone/>
            </a:pPr>
            <a:r>
              <a:rPr lang="en-US" sz="1300" b="1" i="0" u="none" strike="noStrike" cap="non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New Partner KPIs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3438144" y="2697480"/>
            <a:ext cx="242316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lang="en-US" sz="12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Introduce "IP Contribution &amp; Product Revenue" as a core Partner metric. Partners receive royalty-style bonuses for frameworks that scale into profitable SaaS modules.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6181344" y="1143000"/>
            <a:ext cx="2743200" cy="3749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CE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6364224" y="1261872"/>
            <a:ext cx="594360" cy="594360"/>
          </a:xfrm>
          <a:prstGeom prst="ellipse">
            <a:avLst/>
          </a:prstGeom>
          <a:solidFill>
            <a:srgbClr val="E84855"/>
          </a:solidFill>
          <a:ln w="12700" cap="flat" cmpd="sng">
            <a:solidFill>
              <a:srgbClr val="E848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6364224" y="1261872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6345936" y="1965960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Georgia"/>
              <a:buNone/>
            </a:pPr>
            <a:r>
              <a:rPr lang="en-US" sz="1300" b="1" i="0" u="none" strike="noStrike" cap="non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Elevated Digital Leadership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6345936" y="2697480"/>
            <a:ext cx="242316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lang="en-US" sz="12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CDO Claire Dubois must receive equal voting weight to Regional Managing Partners on the Global Executive Committee operationalizing digital strategy at the highest level.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9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0" y="0"/>
            <a:ext cx="201300" cy="5143500"/>
          </a:xfrm>
          <a:prstGeom prst="rect">
            <a:avLst/>
          </a:prstGeom>
          <a:solidFill>
            <a:srgbClr val="00C2A8"/>
          </a:solidFill>
          <a:ln w="12700" cap="flat" cmpd="sng">
            <a:solidFill>
              <a:srgbClr val="00C2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cc9de6f81f_2_55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g3cc9de6f81f_2_55"/>
          <p:cNvSpPr/>
          <p:nvPr/>
        </p:nvSpPr>
        <p:spPr>
          <a:xfrm>
            <a:off x="457200" y="73152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alibri"/>
              <a:buNone/>
            </a:pPr>
            <a:r>
              <a:rPr lang="en-US" sz="1200" b="1" i="0" u="none" strike="noStrike" cap="non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RISK MANAGEMENT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cc9de6f81f_2_55"/>
          <p:cNvSpPr/>
          <p:nvPr/>
        </p:nvSpPr>
        <p:spPr>
          <a:xfrm>
            <a:off x="457200" y="347472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Mitigation &amp; Regulatory Strategy</a:t>
            </a:r>
            <a:endParaRPr sz="36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" name="Google Shape;274;g3cc9de6f81f_2_55"/>
          <p:cNvSpPr/>
          <p:nvPr/>
        </p:nvSpPr>
        <p:spPr>
          <a:xfrm>
            <a:off x="365760" y="1417320"/>
            <a:ext cx="3931800" cy="34017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C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g3cc9de6f81f_2_55"/>
          <p:cNvSpPr/>
          <p:nvPr/>
        </p:nvSpPr>
        <p:spPr>
          <a:xfrm>
            <a:off x="365760" y="1417320"/>
            <a:ext cx="3931800" cy="63900"/>
          </a:xfrm>
          <a:prstGeom prst="rect">
            <a:avLst/>
          </a:prstGeom>
          <a:solidFill>
            <a:srgbClr val="E84855"/>
          </a:solidFill>
          <a:ln w="12700" cap="flat" cmpd="sng">
            <a:solidFill>
              <a:srgbClr val="E848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3cc9de6f81f_2_55"/>
          <p:cNvSpPr/>
          <p:nvPr/>
        </p:nvSpPr>
        <p:spPr>
          <a:xfrm>
            <a:off x="530352" y="1527048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4855"/>
              </a:buClr>
              <a:buSzPts val="1000"/>
              <a:buFont typeface="Calibri"/>
              <a:buNone/>
            </a:pPr>
            <a:r>
              <a:rPr lang="en-US" b="1" i="0" u="none" strike="noStrike" cap="none">
                <a:solidFill>
                  <a:srgbClr val="E84855"/>
                </a:solidFill>
                <a:latin typeface="Calibri"/>
                <a:ea typeface="Calibri"/>
                <a:cs typeface="Calibri"/>
                <a:sym typeface="Calibri"/>
              </a:rPr>
              <a:t>KEY EXPOSURES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3cc9de6f81f_2_55"/>
          <p:cNvSpPr/>
          <p:nvPr/>
        </p:nvSpPr>
        <p:spPr>
          <a:xfrm>
            <a:off x="502920" y="1901952"/>
            <a:ext cx="255900" cy="255900"/>
          </a:xfrm>
          <a:prstGeom prst="rect">
            <a:avLst/>
          </a:prstGeom>
          <a:solidFill>
            <a:srgbClr val="E84855"/>
          </a:solidFill>
          <a:ln w="12700" cap="flat" cmpd="sng">
            <a:solidFill>
              <a:srgbClr val="E848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g3cc9de6f81f_2_55"/>
          <p:cNvSpPr/>
          <p:nvPr/>
        </p:nvSpPr>
        <p:spPr>
          <a:xfrm>
            <a:off x="502920" y="1901952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3cc9de6f81f_2_55"/>
          <p:cNvSpPr/>
          <p:nvPr/>
        </p:nvSpPr>
        <p:spPr>
          <a:xfrm>
            <a:off x="850392" y="1901952"/>
            <a:ext cx="32919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Data Liability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cc9de6f81f_2_55"/>
          <p:cNvSpPr/>
          <p:nvPr/>
        </p:nvSpPr>
        <p:spPr>
          <a:xfrm>
            <a:off x="850392" y="2176272"/>
            <a:ext cx="32919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Client data used to train Atlas creates exposure if governance fails or breaches occur.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cc9de6f81f_2_55"/>
          <p:cNvSpPr/>
          <p:nvPr/>
        </p:nvSpPr>
        <p:spPr>
          <a:xfrm>
            <a:off x="502920" y="2651760"/>
            <a:ext cx="255900" cy="255900"/>
          </a:xfrm>
          <a:prstGeom prst="rect">
            <a:avLst/>
          </a:prstGeom>
          <a:solidFill>
            <a:srgbClr val="E84855"/>
          </a:solidFill>
          <a:ln w="12700" cap="flat" cmpd="sng">
            <a:solidFill>
              <a:srgbClr val="E848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g3cc9de6f81f_2_55"/>
          <p:cNvSpPr/>
          <p:nvPr/>
        </p:nvSpPr>
        <p:spPr>
          <a:xfrm>
            <a:off x="502920" y="2651760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cc9de6f81f_2_55"/>
          <p:cNvSpPr/>
          <p:nvPr/>
        </p:nvSpPr>
        <p:spPr>
          <a:xfrm>
            <a:off x="850392" y="2651760"/>
            <a:ext cx="32919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Cybersecurity Threats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cc9de6f81f_2_55"/>
          <p:cNvSpPr/>
          <p:nvPr/>
        </p:nvSpPr>
        <p:spPr>
          <a:xfrm>
            <a:off x="850392" y="2926080"/>
            <a:ext cx="32919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Platform attack surface vastly exceeds traditional advisory firm risk posture.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cc9de6f81f_2_55"/>
          <p:cNvSpPr/>
          <p:nvPr/>
        </p:nvSpPr>
        <p:spPr>
          <a:xfrm>
            <a:off x="502920" y="3401568"/>
            <a:ext cx="255900" cy="255900"/>
          </a:xfrm>
          <a:prstGeom prst="rect">
            <a:avLst/>
          </a:prstGeom>
          <a:solidFill>
            <a:srgbClr val="E84855"/>
          </a:solidFill>
          <a:ln w="12700" cap="flat" cmpd="sng">
            <a:solidFill>
              <a:srgbClr val="E848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g3cc9de6f81f_2_55"/>
          <p:cNvSpPr/>
          <p:nvPr/>
        </p:nvSpPr>
        <p:spPr>
          <a:xfrm>
            <a:off x="502920" y="3401568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cc9de6f81f_2_55"/>
          <p:cNvSpPr/>
          <p:nvPr/>
        </p:nvSpPr>
        <p:spPr>
          <a:xfrm>
            <a:off x="850392" y="3401568"/>
            <a:ext cx="32919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Regulatory Scrutiny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cc9de6f81f_2_55"/>
          <p:cNvSpPr/>
          <p:nvPr/>
        </p:nvSpPr>
        <p:spPr>
          <a:xfrm>
            <a:off x="850392" y="3675888"/>
            <a:ext cx="32919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AI-generated compliance outputs may face legal challenge across EU and US jurisdictions.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cc9de6f81f_2_55"/>
          <p:cNvSpPr/>
          <p:nvPr/>
        </p:nvSpPr>
        <p:spPr>
          <a:xfrm>
            <a:off x="502920" y="4151376"/>
            <a:ext cx="255900" cy="255900"/>
          </a:xfrm>
          <a:prstGeom prst="rect">
            <a:avLst/>
          </a:prstGeom>
          <a:solidFill>
            <a:srgbClr val="E84855"/>
          </a:solidFill>
          <a:ln w="12700" cap="flat" cmpd="sng">
            <a:solidFill>
              <a:srgbClr val="E848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g3cc9de6f81f_2_55"/>
          <p:cNvSpPr/>
          <p:nvPr/>
        </p:nvSpPr>
        <p:spPr>
          <a:xfrm>
            <a:off x="502920" y="4151376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cc9de6f81f_2_55"/>
          <p:cNvSpPr/>
          <p:nvPr/>
        </p:nvSpPr>
        <p:spPr>
          <a:xfrm>
            <a:off x="850392" y="4151376"/>
            <a:ext cx="32919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SLA Contractual Penalties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cc9de6f81f_2_55"/>
          <p:cNvSpPr/>
          <p:nvPr/>
        </p:nvSpPr>
        <p:spPr>
          <a:xfrm>
            <a:off x="850392" y="4425696"/>
            <a:ext cx="32919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Uptime and accuracy guarantees expose McGrath to financial penalties at scale.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cc9de6f81f_2_55"/>
          <p:cNvSpPr/>
          <p:nvPr/>
        </p:nvSpPr>
        <p:spPr>
          <a:xfrm>
            <a:off x="4480560" y="1417320"/>
            <a:ext cx="4297800" cy="34017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C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g3cc9de6f81f_2_55"/>
          <p:cNvSpPr/>
          <p:nvPr/>
        </p:nvSpPr>
        <p:spPr>
          <a:xfrm>
            <a:off x="4480560" y="1417320"/>
            <a:ext cx="4297800" cy="63900"/>
          </a:xfrm>
          <a:prstGeom prst="rect">
            <a:avLst/>
          </a:prstGeom>
          <a:solidFill>
            <a:srgbClr val="00C2A8"/>
          </a:solidFill>
          <a:ln w="12700" cap="flat" cmpd="sng">
            <a:solidFill>
              <a:srgbClr val="00C2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g3cc9de6f81f_2_55"/>
          <p:cNvSpPr/>
          <p:nvPr/>
        </p:nvSpPr>
        <p:spPr>
          <a:xfrm>
            <a:off x="4645152" y="1527048"/>
            <a:ext cx="3931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000"/>
              <a:buFont typeface="Calibri"/>
              <a:buNone/>
            </a:pPr>
            <a:r>
              <a:rPr lang="en-US" b="1" i="0" u="none" strike="noStrike" cap="non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MITIGATION MEASURES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cc9de6f81f_2_55"/>
          <p:cNvSpPr/>
          <p:nvPr/>
        </p:nvSpPr>
        <p:spPr>
          <a:xfrm>
            <a:off x="4645152" y="1901952"/>
            <a:ext cx="255900" cy="255900"/>
          </a:xfrm>
          <a:prstGeom prst="ellipse">
            <a:avLst/>
          </a:prstGeom>
          <a:solidFill>
            <a:srgbClr val="00C2A8"/>
          </a:solidFill>
          <a:ln w="12700" cap="flat" cmpd="sng">
            <a:solidFill>
              <a:srgbClr val="00C2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3cc9de6f81f_2_55"/>
          <p:cNvSpPr/>
          <p:nvPr/>
        </p:nvSpPr>
        <p:spPr>
          <a:xfrm>
            <a:off x="4645152" y="1901952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cc9de6f81f_2_55"/>
          <p:cNvSpPr/>
          <p:nvPr/>
        </p:nvSpPr>
        <p:spPr>
          <a:xfrm>
            <a:off x="4992624" y="1901952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Dedicated AI Compliance Office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cc9de6f81f_2_55"/>
          <p:cNvSpPr/>
          <p:nvPr/>
        </p:nvSpPr>
        <p:spPr>
          <a:xfrm>
            <a:off x="4992624" y="2176272"/>
            <a:ext cx="36576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In-house team governing Atlas outputs, data handling, and regulatory alignment globally.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cc9de6f81f_2_55"/>
          <p:cNvSpPr/>
          <p:nvPr/>
        </p:nvSpPr>
        <p:spPr>
          <a:xfrm>
            <a:off x="4645152" y="2651760"/>
            <a:ext cx="255900" cy="255900"/>
          </a:xfrm>
          <a:prstGeom prst="ellipse">
            <a:avLst/>
          </a:prstGeom>
          <a:solidFill>
            <a:srgbClr val="00C2A8"/>
          </a:solidFill>
          <a:ln w="12700" cap="flat" cmpd="sng">
            <a:solidFill>
              <a:srgbClr val="00C2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3cc9de6f81f_2_55"/>
          <p:cNvSpPr/>
          <p:nvPr/>
        </p:nvSpPr>
        <p:spPr>
          <a:xfrm>
            <a:off x="4645152" y="2651760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cc9de6f81f_2_55"/>
          <p:cNvSpPr/>
          <p:nvPr/>
        </p:nvSpPr>
        <p:spPr>
          <a:xfrm>
            <a:off x="4992624" y="2651760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External Regulatory Audits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cc9de6f81f_2_55"/>
          <p:cNvSpPr/>
          <p:nvPr/>
        </p:nvSpPr>
        <p:spPr>
          <a:xfrm>
            <a:off x="4992624" y="2926080"/>
            <a:ext cx="36576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Annual third-party audits across key jurisdictions (EU AI Act, SEC, FCA) to pre-empt scrutiny.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3cc9de6f81f_2_55"/>
          <p:cNvSpPr/>
          <p:nvPr/>
        </p:nvSpPr>
        <p:spPr>
          <a:xfrm>
            <a:off x="4645152" y="3401568"/>
            <a:ext cx="255900" cy="255900"/>
          </a:xfrm>
          <a:prstGeom prst="ellipse">
            <a:avLst/>
          </a:prstGeom>
          <a:solidFill>
            <a:srgbClr val="00C2A8"/>
          </a:solidFill>
          <a:ln w="12700" cap="flat" cmpd="sng">
            <a:solidFill>
              <a:srgbClr val="00C2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g3cc9de6f81f_2_55"/>
          <p:cNvSpPr/>
          <p:nvPr/>
        </p:nvSpPr>
        <p:spPr>
          <a:xfrm>
            <a:off x="4645152" y="3401568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cc9de6f81f_2_55"/>
          <p:cNvSpPr/>
          <p:nvPr/>
        </p:nvSpPr>
        <p:spPr>
          <a:xfrm>
            <a:off x="4992624" y="3401568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Expanded Cyber Insurance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g3cc9de6f81f_2_55"/>
          <p:cNvSpPr/>
          <p:nvPr/>
        </p:nvSpPr>
        <p:spPr>
          <a:xfrm>
            <a:off x="4992624" y="3675888"/>
            <a:ext cx="36576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Platform-grade cyber coverage including SaaS-specific breach, outage, and liability policies.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3cc9de6f81f_2_55"/>
          <p:cNvSpPr/>
          <p:nvPr/>
        </p:nvSpPr>
        <p:spPr>
          <a:xfrm>
            <a:off x="4645152" y="4151376"/>
            <a:ext cx="255900" cy="255900"/>
          </a:xfrm>
          <a:prstGeom prst="ellipse">
            <a:avLst/>
          </a:prstGeom>
          <a:solidFill>
            <a:srgbClr val="00C2A8"/>
          </a:solidFill>
          <a:ln w="12700" cap="flat" cmpd="sng">
            <a:solidFill>
              <a:srgbClr val="00C2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g3cc9de6f81f_2_55"/>
          <p:cNvSpPr/>
          <p:nvPr/>
        </p:nvSpPr>
        <p:spPr>
          <a:xfrm>
            <a:off x="4645152" y="4151376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g3cc9de6f81f_2_55"/>
          <p:cNvSpPr/>
          <p:nvPr/>
        </p:nvSpPr>
        <p:spPr>
          <a:xfrm>
            <a:off x="4992624" y="4151376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Structured SLA Liability Caps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3cc9de6f81f_2_55"/>
          <p:cNvSpPr/>
          <p:nvPr/>
        </p:nvSpPr>
        <p:spPr>
          <a:xfrm>
            <a:off x="4992624" y="4425696"/>
            <a:ext cx="36576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Contractual ceilings on liability with tiered remedies, limiting downside from uptime or accuracy failures.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cc9de6f81f_2_55"/>
          <p:cNvSpPr/>
          <p:nvPr/>
        </p:nvSpPr>
        <p:spPr>
          <a:xfrm>
            <a:off x="0" y="0"/>
            <a:ext cx="201300" cy="5143500"/>
          </a:xfrm>
          <a:prstGeom prst="rect">
            <a:avLst/>
          </a:prstGeom>
          <a:solidFill>
            <a:srgbClr val="00C2A8"/>
          </a:solidFill>
          <a:ln w="12700" cap="flat" cmpd="sng">
            <a:solidFill>
              <a:srgbClr val="00C2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g3cc9de6f81f_2_55"/>
          <p:cNvSpPr txBox="1"/>
          <p:nvPr/>
        </p:nvSpPr>
        <p:spPr>
          <a:xfrm>
            <a:off x="8605100" y="4808800"/>
            <a:ext cx="322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8BA3B8"/>
                </a:solidFill>
              </a:rPr>
              <a:t>08</a:t>
            </a:r>
            <a:endParaRPr sz="900">
              <a:solidFill>
                <a:srgbClr val="8BA3B8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7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7"/>
          <p:cNvSpPr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alibri"/>
              <a:buNone/>
            </a:pPr>
            <a:r>
              <a:rPr lang="en-US" sz="1200" b="1" i="0" u="none" strike="noStrike" cap="non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GO-TO-MARKET EXECUTION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7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lang="en-US" sz="3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Powering</a:t>
            </a:r>
            <a:r>
              <a:rPr lang="en-US" sz="36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"Atlas " Program</a:t>
            </a:r>
            <a:endParaRPr sz="36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" name="Google Shape;322;p7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solidFill>
            <a:srgbClr val="0F1F3D"/>
          </a:solidFill>
          <a:ln w="12700" cap="flat" cmpd="sng">
            <a:solidFill>
              <a:srgbClr val="0F1F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7"/>
          <p:cNvSpPr/>
          <p:nvPr/>
        </p:nvSpPr>
        <p:spPr>
          <a:xfrm>
            <a:off x="457200" y="1170432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200"/>
              <a:buFont typeface="Calibri"/>
              <a:buNone/>
            </a:pPr>
            <a:r>
              <a:rPr lang="en-US" b="1" i="0" u="none" strike="noStrike" cap="non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6–8 Tier-1 Design Partners  ·  Multi-year ARR upfront  ·  Training data access  ·  Steering Committee seats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7"/>
          <p:cNvSpPr/>
          <p:nvPr/>
        </p:nvSpPr>
        <p:spPr>
          <a:xfrm>
            <a:off x="365760" y="1874520"/>
            <a:ext cx="4206240" cy="2926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C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7"/>
          <p:cNvSpPr/>
          <p:nvPr/>
        </p:nvSpPr>
        <p:spPr>
          <a:xfrm>
            <a:off x="365760" y="1874520"/>
            <a:ext cx="4206240" cy="64008"/>
          </a:xfrm>
          <a:prstGeom prst="rect">
            <a:avLst/>
          </a:prstGeom>
          <a:solidFill>
            <a:srgbClr val="E84855"/>
          </a:solidFill>
          <a:ln w="12700" cap="flat" cmpd="sng">
            <a:solidFill>
              <a:srgbClr val="E848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7"/>
          <p:cNvSpPr/>
          <p:nvPr/>
        </p:nvSpPr>
        <p:spPr>
          <a:xfrm>
            <a:off x="548640" y="1993392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4855"/>
              </a:buClr>
              <a:buSzPts val="1100"/>
              <a:buFont typeface="Calibri"/>
              <a:buNone/>
            </a:pPr>
            <a:r>
              <a:rPr lang="en-US" b="1" i="0" u="none" strike="noStrike" cap="none">
                <a:solidFill>
                  <a:srgbClr val="E84855"/>
                </a:solidFill>
                <a:latin typeface="Calibri"/>
                <a:ea typeface="Calibri"/>
                <a:cs typeface="Calibri"/>
                <a:sym typeface="Calibri"/>
              </a:rPr>
              <a:t>CLIENTS GIVE →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7"/>
          <p:cNvSpPr/>
          <p:nvPr/>
        </p:nvSpPr>
        <p:spPr>
          <a:xfrm>
            <a:off x="548640" y="2377440"/>
            <a:ext cx="384048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6075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Multi-year upfront ARR commitments that fund the €280M build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6075" algn="l" rtl="0">
              <a:spcBef>
                <a:spcPts val="80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Permission to train Atlas on their complex, sanitized corporate data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6075" algn="l" rtl="0">
              <a:spcBef>
                <a:spcPts val="80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Validated use-cases that prove product-market fit before broad launch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7"/>
          <p:cNvSpPr/>
          <p:nvPr/>
        </p:nvSpPr>
        <p:spPr>
          <a:xfrm>
            <a:off x="4709160" y="1874520"/>
            <a:ext cx="4206240" cy="2926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C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7"/>
          <p:cNvSpPr/>
          <p:nvPr/>
        </p:nvSpPr>
        <p:spPr>
          <a:xfrm>
            <a:off x="4709160" y="1874520"/>
            <a:ext cx="4206240" cy="64008"/>
          </a:xfrm>
          <a:prstGeom prst="rect">
            <a:avLst/>
          </a:prstGeom>
          <a:solidFill>
            <a:srgbClr val="00C2A8"/>
          </a:solidFill>
          <a:ln w="12700" cap="flat" cmpd="sng">
            <a:solidFill>
              <a:srgbClr val="00C2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7"/>
          <p:cNvSpPr/>
          <p:nvPr/>
        </p:nvSpPr>
        <p:spPr>
          <a:xfrm>
            <a:off x="4892040" y="1993392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100"/>
              <a:buFont typeface="Calibri"/>
              <a:buNone/>
            </a:pPr>
            <a:r>
              <a:rPr lang="en-US" b="1" i="0" u="none" strike="noStrike" cap="non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← McGRATH GIVES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7"/>
          <p:cNvSpPr/>
          <p:nvPr/>
        </p:nvSpPr>
        <p:spPr>
          <a:xfrm>
            <a:off x="4892040" y="2377440"/>
            <a:ext cx="384048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6075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3-year heavily discounted licensing rates vs. future market price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6075" algn="l" rtl="0">
              <a:spcBef>
                <a:spcPts val="80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Seat on the Atlas Steering Committee — direct roadmap influence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6075" algn="l" rtl="0">
              <a:spcBef>
                <a:spcPts val="80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Priority access to new modules, benchmarks &amp; compliance copilots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7"/>
          <p:cNvSpPr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7"/>
          <p:cNvSpPr/>
          <p:nvPr/>
        </p:nvSpPr>
        <p:spPr>
          <a:xfrm>
            <a:off x="0" y="0"/>
            <a:ext cx="201300" cy="5143500"/>
          </a:xfrm>
          <a:prstGeom prst="rect">
            <a:avLst/>
          </a:prstGeom>
          <a:solidFill>
            <a:srgbClr val="00C2A8"/>
          </a:solidFill>
          <a:ln w="12700" cap="flat" cmpd="sng">
            <a:solidFill>
              <a:srgbClr val="00C2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cc9add61f7_0_2"/>
          <p:cNvSpPr/>
          <p:nvPr/>
        </p:nvSpPr>
        <p:spPr>
          <a:xfrm>
            <a:off x="201300" y="0"/>
            <a:ext cx="8942700" cy="1181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rPr lang="en-US" sz="36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 </a:t>
            </a:r>
            <a:r>
              <a:rPr lang="en-US" sz="36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Roadmap for the Next </a:t>
            </a:r>
            <a:r>
              <a:rPr lang="en-US" sz="3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years </a:t>
            </a:r>
            <a:endParaRPr sz="36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Google Shape;340;g3cc9add61f7_0_2"/>
          <p:cNvSpPr/>
          <p:nvPr/>
        </p:nvSpPr>
        <p:spPr>
          <a:xfrm>
            <a:off x="365750" y="1379425"/>
            <a:ext cx="2743200" cy="3156900"/>
          </a:xfrm>
          <a:prstGeom prst="rect">
            <a:avLst/>
          </a:prstGeom>
          <a:solidFill>
            <a:srgbClr val="182E4A"/>
          </a:solidFill>
          <a:ln w="12700" cap="flat" cmpd="sng">
            <a:solidFill>
              <a:srgbClr val="182E4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50800" dir="8100000" algn="bl" rotWithShape="0">
              <a:srgbClr val="000000">
                <a:alpha val="250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41" name="Google Shape;341;g3cc9add61f7_0_2"/>
          <p:cNvSpPr/>
          <p:nvPr/>
        </p:nvSpPr>
        <p:spPr>
          <a:xfrm>
            <a:off x="365835" y="1341813"/>
            <a:ext cx="2743200" cy="63900"/>
          </a:xfrm>
          <a:prstGeom prst="rect">
            <a:avLst/>
          </a:prstGeom>
          <a:solidFill>
            <a:srgbClr val="E84855"/>
          </a:solidFill>
          <a:ln w="12700" cap="flat" cmpd="sng">
            <a:solidFill>
              <a:srgbClr val="E848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g3cc9add61f7_0_2"/>
          <p:cNvSpPr/>
          <p:nvPr/>
        </p:nvSpPr>
        <p:spPr>
          <a:xfrm>
            <a:off x="502795" y="1592066"/>
            <a:ext cx="246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4855"/>
              </a:buClr>
              <a:buSzPts val="900"/>
              <a:buFont typeface="Calibri"/>
              <a:buNone/>
            </a:pPr>
            <a:r>
              <a:rPr lang="en-US" sz="1200" b="1">
                <a:solidFill>
                  <a:srgbClr val="E84855"/>
                </a:solidFill>
                <a:latin typeface="Calibri"/>
                <a:ea typeface="Calibri"/>
                <a:cs typeface="Calibri"/>
                <a:sym typeface="Calibri"/>
              </a:rPr>
              <a:t>PHASE- 1</a:t>
            </a:r>
            <a:endParaRPr sz="1200" b="1">
              <a:solidFill>
                <a:srgbClr val="E848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4855"/>
              </a:buClr>
              <a:buSzPts val="900"/>
              <a:buFont typeface="Calibri"/>
              <a:buNone/>
            </a:pPr>
            <a:r>
              <a:rPr lang="en-US" sz="1200" b="1">
                <a:solidFill>
                  <a:srgbClr val="E84855"/>
                </a:solidFill>
                <a:latin typeface="Calibri"/>
                <a:ea typeface="Calibri"/>
                <a:cs typeface="Calibri"/>
                <a:sym typeface="Calibri"/>
              </a:rPr>
              <a:t>0-12 MONTHS </a:t>
            </a:r>
            <a:endParaRPr sz="1200" b="1">
              <a:solidFill>
                <a:srgbClr val="E848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g3cc9add61f7_0_2"/>
          <p:cNvSpPr/>
          <p:nvPr/>
        </p:nvSpPr>
        <p:spPr>
          <a:xfrm>
            <a:off x="502795" y="1875685"/>
            <a:ext cx="2469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Foundation </a:t>
            </a:r>
            <a:endParaRPr sz="15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cc9add61f7_0_2"/>
          <p:cNvSpPr/>
          <p:nvPr/>
        </p:nvSpPr>
        <p:spPr>
          <a:xfrm>
            <a:off x="502920" y="2176983"/>
            <a:ext cx="246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Owner: Elena Kovacs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g3cc9add61f7_0_2"/>
          <p:cNvSpPr/>
          <p:nvPr/>
        </p:nvSpPr>
        <p:spPr>
          <a:xfrm>
            <a:off x="502925" y="2433351"/>
            <a:ext cx="2469000" cy="20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98450" algn="l" rtl="0">
              <a:spcBef>
                <a:spcPts val="400"/>
              </a:spcBef>
              <a:spcAft>
                <a:spcPts val="0"/>
              </a:spcAft>
              <a:buClr>
                <a:srgbClr val="D1DCE8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D1DCE8"/>
                </a:solidFill>
                <a:latin typeface="Calibri"/>
                <a:ea typeface="Calibri"/>
                <a:cs typeface="Calibri"/>
                <a:sym typeface="Calibri"/>
              </a:rPr>
              <a:t>Announce clear leadership commitment to the Atlas strategy</a:t>
            </a:r>
            <a:endParaRPr sz="1100">
              <a:solidFill>
                <a:srgbClr val="D1DC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8450" algn="l" rtl="0">
              <a:spcBef>
                <a:spcPts val="400"/>
              </a:spcBef>
              <a:spcAft>
                <a:spcPts val="0"/>
              </a:spcAft>
              <a:buClr>
                <a:srgbClr val="D1DCE8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D1DCE8"/>
                </a:solidFill>
                <a:latin typeface="Calibri"/>
                <a:ea typeface="Calibri"/>
                <a:cs typeface="Calibri"/>
                <a:sym typeface="Calibri"/>
              </a:rPr>
              <a:t>Update compensation and KPIs to reward digital and product growth</a:t>
            </a:r>
            <a:endParaRPr sz="1100">
              <a:solidFill>
                <a:srgbClr val="D1DC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8450" algn="l" rtl="0">
              <a:spcBef>
                <a:spcPts val="400"/>
              </a:spcBef>
              <a:spcAft>
                <a:spcPts val="0"/>
              </a:spcAft>
              <a:buClr>
                <a:srgbClr val="D1DCE8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D1DCE8"/>
                </a:solidFill>
                <a:latin typeface="Calibri"/>
                <a:ea typeface="Calibri"/>
                <a:cs typeface="Calibri"/>
                <a:sym typeface="Calibri"/>
              </a:rPr>
              <a:t>Introduce a required Atlas knowledge-sharing policy</a:t>
            </a:r>
            <a:endParaRPr sz="1100">
              <a:solidFill>
                <a:srgbClr val="D1DC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8450" algn="l" rtl="0">
              <a:spcBef>
                <a:spcPts val="400"/>
              </a:spcBef>
              <a:spcAft>
                <a:spcPts val="0"/>
              </a:spcAft>
              <a:buClr>
                <a:srgbClr val="D1DCE8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D1DCE8"/>
                </a:solidFill>
                <a:latin typeface="Calibri"/>
                <a:ea typeface="Calibri"/>
                <a:cs typeface="Calibri"/>
                <a:sym typeface="Calibri"/>
              </a:rPr>
              <a:t>Finalize shortlist of Atlas’s launch clients</a:t>
            </a:r>
            <a:endParaRPr sz="1100">
              <a:solidFill>
                <a:srgbClr val="D1DC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g3cc9add61f7_0_2"/>
          <p:cNvSpPr/>
          <p:nvPr/>
        </p:nvSpPr>
        <p:spPr>
          <a:xfrm>
            <a:off x="3273550" y="1379451"/>
            <a:ext cx="2743200" cy="3156900"/>
          </a:xfrm>
          <a:prstGeom prst="rect">
            <a:avLst/>
          </a:prstGeom>
          <a:solidFill>
            <a:srgbClr val="182E4A"/>
          </a:solidFill>
          <a:ln w="12700" cap="flat" cmpd="sng">
            <a:solidFill>
              <a:srgbClr val="182E4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50800" dir="8100000" algn="bl" rotWithShape="0">
              <a:srgbClr val="000000">
                <a:alpha val="250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g3cc9add61f7_0_2"/>
          <p:cNvSpPr/>
          <p:nvPr/>
        </p:nvSpPr>
        <p:spPr>
          <a:xfrm>
            <a:off x="3273552" y="1341813"/>
            <a:ext cx="2743200" cy="63900"/>
          </a:xfrm>
          <a:prstGeom prst="rect">
            <a:avLst/>
          </a:prstGeom>
          <a:solidFill>
            <a:srgbClr val="F4A623"/>
          </a:solidFill>
          <a:ln w="12700" cap="flat" cmpd="sng">
            <a:solidFill>
              <a:srgbClr val="F4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g3cc9add61f7_0_2"/>
          <p:cNvSpPr/>
          <p:nvPr/>
        </p:nvSpPr>
        <p:spPr>
          <a:xfrm>
            <a:off x="3410650" y="1692402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A623"/>
              </a:buClr>
              <a:buSzPts val="900"/>
              <a:buFont typeface="Calibri"/>
              <a:buNone/>
            </a:pPr>
            <a:r>
              <a:rPr lang="en-US" sz="1200" b="1">
                <a:solidFill>
                  <a:srgbClr val="F4A623"/>
                </a:solidFill>
                <a:latin typeface="Calibri"/>
                <a:ea typeface="Calibri"/>
                <a:cs typeface="Calibri"/>
                <a:sym typeface="Calibri"/>
              </a:rPr>
              <a:t>PHASE - 2 </a:t>
            </a:r>
            <a:endParaRPr sz="1200" b="1">
              <a:solidFill>
                <a:srgbClr val="F4A6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A623"/>
              </a:buClr>
              <a:buSzPts val="900"/>
              <a:buFont typeface="Calibri"/>
              <a:buNone/>
            </a:pPr>
            <a:r>
              <a:rPr lang="en-US" sz="1200" b="1">
                <a:solidFill>
                  <a:srgbClr val="F4A623"/>
                </a:solidFill>
                <a:latin typeface="Calibri"/>
                <a:ea typeface="Calibri"/>
                <a:cs typeface="Calibri"/>
                <a:sym typeface="Calibri"/>
              </a:rPr>
              <a:t>12-24 MONTHS</a:t>
            </a:r>
            <a:endParaRPr sz="1200" b="1">
              <a:solidFill>
                <a:srgbClr val="F4A6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A623"/>
              </a:buClr>
              <a:buSzPts val="900"/>
              <a:buFont typeface="Calibri"/>
              <a:buNone/>
            </a:pPr>
            <a:endParaRPr sz="1200" b="1">
              <a:solidFill>
                <a:srgbClr val="F4A62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3cc9add61f7_0_2"/>
          <p:cNvSpPr/>
          <p:nvPr/>
        </p:nvSpPr>
        <p:spPr>
          <a:xfrm>
            <a:off x="3410662" y="1875685"/>
            <a:ext cx="2469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r>
              <a:rPr lang="en-US" sz="15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cc9add61f7_0_2"/>
          <p:cNvSpPr/>
          <p:nvPr/>
        </p:nvSpPr>
        <p:spPr>
          <a:xfrm>
            <a:off x="3410662" y="2176983"/>
            <a:ext cx="246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Owner: Partners + Legal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3cc9add61f7_0_2"/>
          <p:cNvSpPr/>
          <p:nvPr/>
        </p:nvSpPr>
        <p:spPr>
          <a:xfrm>
            <a:off x="3410700" y="2433299"/>
            <a:ext cx="2469000" cy="19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6075" algn="l" rtl="0">
              <a:spcBef>
                <a:spcPts val="400"/>
              </a:spcBef>
              <a:spcAft>
                <a:spcPts val="0"/>
              </a:spcAft>
              <a:buClr>
                <a:srgbClr val="D1DCE8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D1DCE8"/>
                </a:solidFill>
                <a:latin typeface="Calibri"/>
                <a:ea typeface="Calibri"/>
                <a:cs typeface="Calibri"/>
                <a:sym typeface="Calibri"/>
              </a:rPr>
              <a:t>Launch benchmarking platform </a:t>
            </a:r>
            <a:endParaRPr sz="1100">
              <a:solidFill>
                <a:srgbClr val="D1DC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6075" algn="l" rtl="0">
              <a:spcBef>
                <a:spcPts val="400"/>
              </a:spcBef>
              <a:spcAft>
                <a:spcPts val="0"/>
              </a:spcAft>
              <a:buClr>
                <a:srgbClr val="D1DCE8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D1DCE8"/>
                </a:solidFill>
                <a:latin typeface="Calibri"/>
                <a:ea typeface="Calibri"/>
                <a:cs typeface="Calibri"/>
                <a:sym typeface="Calibri"/>
              </a:rPr>
              <a:t>ATLAS’s Design partner rollout </a:t>
            </a:r>
            <a:endParaRPr sz="1100">
              <a:solidFill>
                <a:srgbClr val="D1DC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6075" algn="l" rtl="0">
              <a:spcBef>
                <a:spcPts val="400"/>
              </a:spcBef>
              <a:spcAft>
                <a:spcPts val="0"/>
              </a:spcAft>
              <a:buClr>
                <a:srgbClr val="D1DCE8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D1DCE8"/>
                </a:solidFill>
                <a:latin typeface="Calibri"/>
                <a:ea typeface="Calibri"/>
                <a:cs typeface="Calibri"/>
                <a:sym typeface="Calibri"/>
              </a:rPr>
              <a:t>Embed Co-pilot in top 10 clients </a:t>
            </a:r>
            <a:endParaRPr sz="1100">
              <a:solidFill>
                <a:srgbClr val="D1DC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6075" algn="l" rtl="0">
              <a:spcBef>
                <a:spcPts val="400"/>
              </a:spcBef>
              <a:spcAft>
                <a:spcPts val="0"/>
              </a:spcAft>
              <a:buClr>
                <a:srgbClr val="D1DCE8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D1DCE8"/>
                </a:solidFill>
                <a:latin typeface="Calibri"/>
                <a:ea typeface="Calibri"/>
                <a:cs typeface="Calibri"/>
                <a:sym typeface="Calibri"/>
              </a:rPr>
              <a:t>Achieve 15% digital revenue </a:t>
            </a:r>
            <a:endParaRPr sz="1100">
              <a:solidFill>
                <a:srgbClr val="D1DC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6075" algn="l" rtl="0">
              <a:spcBef>
                <a:spcPts val="400"/>
              </a:spcBef>
              <a:spcAft>
                <a:spcPts val="0"/>
              </a:spcAft>
              <a:buClr>
                <a:srgbClr val="D1DCE8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D1DCE8"/>
                </a:solidFill>
                <a:latin typeface="Calibri"/>
                <a:ea typeface="Calibri"/>
                <a:cs typeface="Calibri"/>
                <a:sym typeface="Calibri"/>
              </a:rPr>
              <a:t>Diamond Org. Transformation </a:t>
            </a:r>
            <a:endParaRPr sz="1100">
              <a:solidFill>
                <a:srgbClr val="D1DC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6075" algn="l" rtl="0">
              <a:spcBef>
                <a:spcPts val="400"/>
              </a:spcBef>
              <a:spcAft>
                <a:spcPts val="0"/>
              </a:spcAft>
              <a:buClr>
                <a:srgbClr val="D1DCE8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D1DCE8"/>
                </a:solidFill>
                <a:latin typeface="Calibri"/>
                <a:ea typeface="Calibri"/>
                <a:cs typeface="Calibri"/>
                <a:sym typeface="Calibri"/>
              </a:rPr>
              <a:t>Partners Exit day to day management</a:t>
            </a:r>
            <a:endParaRPr sz="1100">
              <a:solidFill>
                <a:srgbClr val="D1DC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3cc9add61f7_0_2"/>
          <p:cNvSpPr/>
          <p:nvPr/>
        </p:nvSpPr>
        <p:spPr>
          <a:xfrm>
            <a:off x="6181350" y="1379451"/>
            <a:ext cx="2743200" cy="3156900"/>
          </a:xfrm>
          <a:prstGeom prst="rect">
            <a:avLst/>
          </a:prstGeom>
          <a:solidFill>
            <a:srgbClr val="182E4A"/>
          </a:solidFill>
          <a:ln w="12700" cap="flat" cmpd="sng">
            <a:solidFill>
              <a:srgbClr val="182E4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50800" dir="8100000" algn="bl" rotWithShape="0">
              <a:srgbClr val="000000">
                <a:alpha val="250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g3cc9add61f7_0_2"/>
          <p:cNvSpPr/>
          <p:nvPr/>
        </p:nvSpPr>
        <p:spPr>
          <a:xfrm>
            <a:off x="6181269" y="1341813"/>
            <a:ext cx="2743200" cy="63900"/>
          </a:xfrm>
          <a:prstGeom prst="rect">
            <a:avLst/>
          </a:prstGeom>
          <a:solidFill>
            <a:srgbClr val="00C2A8"/>
          </a:solidFill>
          <a:ln w="12700" cap="flat" cmpd="sng">
            <a:solidFill>
              <a:srgbClr val="00C2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g3cc9add61f7_0_2"/>
          <p:cNvSpPr/>
          <p:nvPr/>
        </p:nvSpPr>
        <p:spPr>
          <a:xfrm>
            <a:off x="6318504" y="1637603"/>
            <a:ext cx="246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alibri"/>
              <a:buNone/>
            </a:pPr>
            <a:r>
              <a:rPr lang="en-US" sz="1200" b="1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PHASE - 3</a:t>
            </a:r>
            <a:endParaRPr sz="1200" b="1">
              <a:solidFill>
                <a:srgbClr val="00C2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alibri"/>
              <a:buNone/>
            </a:pPr>
            <a:r>
              <a:rPr lang="en-US" sz="1200" b="1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24-36 MONTHS</a:t>
            </a:r>
            <a:endParaRPr sz="1200" b="1">
              <a:solidFill>
                <a:srgbClr val="00C2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3cc9add61f7_0_2"/>
          <p:cNvSpPr/>
          <p:nvPr/>
        </p:nvSpPr>
        <p:spPr>
          <a:xfrm>
            <a:off x="6318379" y="1875710"/>
            <a:ext cx="2469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Scale</a:t>
            </a:r>
            <a:endParaRPr sz="15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3cc9add61f7_0_2"/>
          <p:cNvSpPr/>
          <p:nvPr/>
        </p:nvSpPr>
        <p:spPr>
          <a:xfrm>
            <a:off x="6318379" y="2176983"/>
            <a:ext cx="246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Owner: CDO + Partners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g3cc9add61f7_0_2"/>
          <p:cNvSpPr/>
          <p:nvPr/>
        </p:nvSpPr>
        <p:spPr>
          <a:xfrm>
            <a:off x="6318500" y="2433299"/>
            <a:ext cx="2469000" cy="19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6075" algn="l" rtl="0">
              <a:spcBef>
                <a:spcPts val="400"/>
              </a:spcBef>
              <a:spcAft>
                <a:spcPts val="0"/>
              </a:spcAft>
              <a:buClr>
                <a:srgbClr val="D1DCE8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D1DCE8"/>
                </a:solidFill>
                <a:latin typeface="Calibri"/>
                <a:ea typeface="Calibri"/>
                <a:cs typeface="Calibri"/>
                <a:sym typeface="Calibri"/>
              </a:rPr>
              <a:t>Full platform market launch </a:t>
            </a:r>
            <a:endParaRPr sz="1100">
              <a:solidFill>
                <a:srgbClr val="D1DC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6075" algn="l" rtl="0">
              <a:spcBef>
                <a:spcPts val="400"/>
              </a:spcBef>
              <a:spcAft>
                <a:spcPts val="0"/>
              </a:spcAft>
              <a:buClr>
                <a:srgbClr val="D1DCE8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D1DCE8"/>
                </a:solidFill>
                <a:latin typeface="Calibri"/>
                <a:ea typeface="Calibri"/>
                <a:cs typeface="Calibri"/>
                <a:sym typeface="Calibri"/>
              </a:rPr>
              <a:t>Outcome based contracts at scale </a:t>
            </a:r>
            <a:endParaRPr sz="1100">
              <a:solidFill>
                <a:srgbClr val="D1DC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6075" algn="l" rtl="0">
              <a:spcBef>
                <a:spcPts val="400"/>
              </a:spcBef>
              <a:spcAft>
                <a:spcPts val="0"/>
              </a:spcAft>
              <a:buClr>
                <a:srgbClr val="D1DCE8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D1DCE8"/>
                </a:solidFill>
                <a:latin typeface="Calibri"/>
                <a:ea typeface="Calibri"/>
                <a:cs typeface="Calibri"/>
                <a:sym typeface="Calibri"/>
              </a:rPr>
              <a:t>Partner elevation to board advisory </a:t>
            </a:r>
            <a:endParaRPr sz="1100">
              <a:solidFill>
                <a:srgbClr val="D1DC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6075" algn="l" rtl="0">
              <a:spcBef>
                <a:spcPts val="400"/>
              </a:spcBef>
              <a:spcAft>
                <a:spcPts val="0"/>
              </a:spcAft>
              <a:buClr>
                <a:srgbClr val="D1DCE8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D1DCE8"/>
                </a:solidFill>
                <a:latin typeface="Calibri"/>
                <a:ea typeface="Calibri"/>
                <a:cs typeface="Calibri"/>
                <a:sym typeface="Calibri"/>
              </a:rPr>
              <a:t>50/30/15 Revenue Mix target review </a:t>
            </a:r>
            <a:endParaRPr sz="1100">
              <a:solidFill>
                <a:srgbClr val="D1DC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6075" algn="l" rtl="0">
              <a:spcBef>
                <a:spcPts val="400"/>
              </a:spcBef>
              <a:spcAft>
                <a:spcPts val="0"/>
              </a:spcAft>
              <a:buClr>
                <a:srgbClr val="D1DCE8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D1DCE8"/>
                </a:solidFill>
                <a:latin typeface="Calibri"/>
                <a:ea typeface="Calibri"/>
                <a:cs typeface="Calibri"/>
                <a:sym typeface="Calibri"/>
              </a:rPr>
              <a:t>Year 4 planning and recalibration </a:t>
            </a:r>
            <a:endParaRPr sz="1100">
              <a:solidFill>
                <a:srgbClr val="D1DC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6075" algn="l" rtl="0">
              <a:spcBef>
                <a:spcPts val="400"/>
              </a:spcBef>
              <a:spcAft>
                <a:spcPts val="0"/>
              </a:spcAft>
              <a:buClr>
                <a:srgbClr val="D1DCE8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D1DCE8"/>
                </a:solidFill>
                <a:latin typeface="Calibri"/>
                <a:ea typeface="Calibri"/>
                <a:cs typeface="Calibri"/>
                <a:sym typeface="Calibri"/>
              </a:rPr>
              <a:t>Evaluate geographic Atlas Expansion </a:t>
            </a:r>
            <a:endParaRPr sz="1100">
              <a:solidFill>
                <a:srgbClr val="D1DC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g3cc9add61f7_0_2"/>
          <p:cNvSpPr/>
          <p:nvPr/>
        </p:nvSpPr>
        <p:spPr>
          <a:xfrm>
            <a:off x="8516314" y="48528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g3cc9add61f7_0_2"/>
          <p:cNvSpPr/>
          <p:nvPr/>
        </p:nvSpPr>
        <p:spPr>
          <a:xfrm>
            <a:off x="0" y="0"/>
            <a:ext cx="201300" cy="5143500"/>
          </a:xfrm>
          <a:prstGeom prst="rect">
            <a:avLst/>
          </a:prstGeom>
          <a:solidFill>
            <a:srgbClr val="00C2A8"/>
          </a:solidFill>
          <a:ln w="12700" cap="flat" cmpd="sng">
            <a:solidFill>
              <a:srgbClr val="00C2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g3cc9add61f7_0_2"/>
          <p:cNvSpPr/>
          <p:nvPr/>
        </p:nvSpPr>
        <p:spPr>
          <a:xfrm>
            <a:off x="435447" y="71243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alibri"/>
              <a:buNone/>
            </a:pPr>
            <a:r>
              <a:rPr lang="en-US" sz="1200" b="1" i="0" u="none" strike="noStrike" cap="non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963</Words>
  <Application>Microsoft Macintosh PowerPoint</Application>
  <PresentationFormat>On-screen Show (16:9)</PresentationFormat>
  <Paragraphs>216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Georgia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Ankit Mishra</cp:lastModifiedBy>
  <cp:revision>1</cp:revision>
  <dcterms:created xsi:type="dcterms:W3CDTF">2026-03-03T12:01:22Z</dcterms:created>
  <dcterms:modified xsi:type="dcterms:W3CDTF">2026-03-20T16:08:43Z</dcterms:modified>
</cp:coreProperties>
</file>